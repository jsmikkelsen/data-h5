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4" r:id="rId17"/>
    <p:sldId id="273" r:id="rId18"/>
    <p:sldId id="272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291" r:id="rId37"/>
    <p:sldId id="293" r:id="rId38"/>
    <p:sldId id="294" r:id="rId39"/>
    <p:sldId id="295" r:id="rId4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98" d="100"/>
          <a:sy n="98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87C6A4-46FE-5F86-97E8-D35F1E0A8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7D17292-E0A4-6993-D3D9-6209C0292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E386CB3-EBE7-6FD0-55B0-C61E58D3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51A5-D48E-DB4E-BD95-471082707812}" type="datetimeFigureOut">
              <a:rPr lang="da-DK" smtClean="0"/>
              <a:t>15.09.2026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41A9FA4-EE39-2D50-5979-66FB9F86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3A13F3A-A3E2-47F5-79E8-B86D8FF7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62D67-0658-3C4B-A422-BD0ECBDFA6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210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F8C891-E0B1-B786-7184-F5030CABE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CA0F60E-0D26-0740-F820-D94819B62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AD33EAF-5FE6-A0E3-922D-E875F1F4B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51A5-D48E-DB4E-BD95-471082707812}" type="datetimeFigureOut">
              <a:rPr lang="da-DK" smtClean="0"/>
              <a:t>15.09.2026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80825AB-584C-294B-D1B9-6C8D8592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C2A11DC-F28C-2A18-3CB8-57835803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62D67-0658-3C4B-A422-BD0ECBDFA6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6899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99C634-FC0B-D498-3B80-99508316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939B9B7-32CD-D8A6-110F-CDBC26863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729065F-E665-03A0-0911-3F34876D3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51A5-D48E-DB4E-BD95-471082707812}" type="datetimeFigureOut">
              <a:rPr lang="da-DK" smtClean="0"/>
              <a:t>15.09.2026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C70FBA9-115A-3D28-244B-13D82771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F778E31-7580-0462-DFF3-A5DB47D35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62D67-0658-3C4B-A422-BD0ECBDFA6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18656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719B31-DF92-B96C-1DE4-9440ADD0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AEBAEC5-9A66-95F2-884E-BE1B3FF7A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17FEF26-D8D3-B0C3-AB09-8A6B68B65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0A70E2C-7850-8A55-3CCE-6862CB40D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51A5-D48E-DB4E-BD95-471082707812}" type="datetimeFigureOut">
              <a:rPr lang="da-DK" smtClean="0"/>
              <a:t>15.09.2026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B367131-A58D-BD0E-1A83-B7D95C2DB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B5AF0F0-A8B8-A4B7-B7BB-01A883FC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62D67-0658-3C4B-A422-BD0ECBDFA6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9543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C9BFFC-6C8C-F0AF-035C-AB0694E0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E9220F1-A9AB-BA9C-9D39-E1056470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6DD4D4E-5FD8-A3DC-7890-9638E9762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390459B3-A8F1-EFEC-A177-8BD47E02F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C808C6E-374E-498C-90F2-3536610D59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251CCF0-21C0-07EE-AA9A-2ECAAE00A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51A5-D48E-DB4E-BD95-471082707812}" type="datetimeFigureOut">
              <a:rPr lang="da-DK" smtClean="0"/>
              <a:t>15.09.2026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B9BB269-1A9E-596C-55C7-DCFC9F990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B1D091E5-5D38-D63B-48F4-6448BB5D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62D67-0658-3C4B-A422-BD0ECBDFA6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2455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01912-1B04-642C-87BD-A2C43D14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25B25B6-8648-249A-92F0-DD178EC05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51A5-D48E-DB4E-BD95-471082707812}" type="datetimeFigureOut">
              <a:rPr lang="da-DK" smtClean="0"/>
              <a:t>15.09.2026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FC58ABD-2F4D-041B-C614-46E5CEE6B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FD8E3340-735B-C7C1-5676-2F179E9E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62D67-0658-3C4B-A422-BD0ECBDFA6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1510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40DB315F-F375-7CBD-5480-4922B22F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51A5-D48E-DB4E-BD95-471082707812}" type="datetimeFigureOut">
              <a:rPr lang="da-DK" smtClean="0"/>
              <a:t>15.09.2026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18799426-7271-EE77-BE6E-66F12FF9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4E8CE39-AF99-F438-00E7-1D7D498D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62D67-0658-3C4B-A422-BD0ECBDFA6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133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48B6C3-19F9-316E-C1EF-B9FBF099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2657379-25EF-D86E-580D-1AEDCA2FD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27675AE-C94D-088B-E2AF-E7F87DFCB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97F6D46-00A4-C1D2-CF54-6296ED63C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51A5-D48E-DB4E-BD95-471082707812}" type="datetimeFigureOut">
              <a:rPr lang="da-DK" smtClean="0"/>
              <a:t>15.09.2026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6D7C83E-45E7-88F9-63F2-A890F6817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872AF17-4F66-FED3-1E74-8B501035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62D67-0658-3C4B-A422-BD0ECBDFA6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4060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64514-75BE-0324-0075-3DDCD8A2A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5D58BA1C-B3B7-08E0-EF94-294CAEFF83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AC4E207-1A97-71BF-2F89-CCF81393E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8580773-C522-766B-49DC-259378711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51A5-D48E-DB4E-BD95-471082707812}" type="datetimeFigureOut">
              <a:rPr lang="da-DK" smtClean="0"/>
              <a:t>15.09.2026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07DDE26-45AC-EEB7-E37D-806AFFB7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7FB0F0E-747C-405D-9327-F13985C5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62D67-0658-3C4B-A422-BD0ECBDFA6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78826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3DC3C6-B317-7DC1-7CFA-80B83AB2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63B764ED-7F6B-669A-C465-BF1F85BE1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A40CA20-872C-1502-3B30-EC267ED8D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51A5-D48E-DB4E-BD95-471082707812}" type="datetimeFigureOut">
              <a:rPr lang="da-DK" smtClean="0"/>
              <a:t>15.09.2026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CDAC93E-CD75-5611-C7F0-0893DCA01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981178B-E2E9-FD85-EA87-C0F39B9B5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62D67-0658-3C4B-A422-BD0ECBDFA6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989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95DDA2A-16A3-5139-8B72-291BE8744B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99C5CC5-4853-5793-8D7C-BDC3FE7EC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8281794-1105-EC28-4B69-45AD5307A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51A5-D48E-DB4E-BD95-471082707812}" type="datetimeFigureOut">
              <a:rPr lang="da-DK" smtClean="0"/>
              <a:t>15.09.2026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124D129-2222-D2CA-8817-FDEE654A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C0530CC-6318-5790-88BF-6D524460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62D67-0658-3C4B-A422-BD0ECBDFA6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9172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F0ED29A-AB6F-C37B-4C73-13E048F94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DF59832-541B-9669-C935-EC44FD33C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962B821-86D5-84C8-B81E-374C09243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FE51A5-D48E-DB4E-BD95-471082707812}" type="datetimeFigureOut">
              <a:rPr lang="da-DK" smtClean="0"/>
              <a:t>15.09.2026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0FF4B69-226E-7A38-1C44-5D733DD0E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534315B-D0EE-7924-FC37-757578997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62D67-0658-3C4B-A422-BD0ECBDFA6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504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CA9581-F8EE-2A93-FB95-20BB95C665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Fra konfiguration til </a:t>
            </a:r>
            <a:r>
              <a:rPr lang="da-DK" dirty="0" err="1"/>
              <a:t>packet</a:t>
            </a:r>
            <a:r>
              <a:rPr lang="da-DK" dirty="0"/>
              <a:t> flow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4C533B1-B171-81D7-0CBE-A6CEF14674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TROUBLESHOOTING OG REPETATIONS OPGAVEN …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…Fra helvede (</a:t>
            </a:r>
            <a:r>
              <a:rPr lang="da-DK"/>
              <a:t>citat tidligere elev)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18991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3130E2-772E-CCAA-F887-8F562885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Intro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FFFB35E-6257-5B9A-527A-B18048135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a-DK" dirty="0"/>
              <a:t>I har tidligere arbejdet med:</a:t>
            </a:r>
          </a:p>
          <a:p>
            <a:pPr lvl="1"/>
            <a:r>
              <a:rPr lang="da-DK" dirty="0"/>
              <a:t>Statiske routes </a:t>
            </a:r>
          </a:p>
          <a:p>
            <a:pPr lvl="1"/>
            <a:r>
              <a:rPr lang="da-DK" dirty="0"/>
              <a:t>Default routes </a:t>
            </a:r>
          </a:p>
          <a:p>
            <a:pPr lvl="1"/>
            <a:r>
              <a:rPr lang="da-DK" dirty="0"/>
              <a:t>OSPF </a:t>
            </a:r>
          </a:p>
          <a:p>
            <a:pPr lvl="1"/>
            <a:r>
              <a:rPr lang="da-DK" dirty="0"/>
              <a:t>Fejlsøgning med ping, traceroute, mv</a:t>
            </a:r>
          </a:p>
          <a:p>
            <a:pPr marL="0" indent="0">
              <a:buNone/>
            </a:pPr>
            <a:r>
              <a:rPr lang="da-DK" dirty="0"/>
              <a:t>I dette mini-forløb er fokus ikke primært på at konfigurere routing.</a:t>
            </a:r>
          </a:p>
          <a:p>
            <a:pPr marL="0" indent="0">
              <a:buNone/>
            </a:pPr>
            <a:r>
              <a:rPr lang="da-DK" dirty="0"/>
              <a:t>Fokus er på at forstå:</a:t>
            </a:r>
          </a:p>
          <a:p>
            <a:pPr lvl="1"/>
            <a:r>
              <a:rPr lang="da-DK" dirty="0"/>
              <a:t>"Hvad gør routeren med pakken – og hvorfor?"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Målet er, at I skal kunne følge en pakke gennem netværket og forudsige, hvad der sker, før I tester.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8418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3452C8-D1E0-2EC2-2227-B9B6FF5D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Hvorfor gør vi det?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6637306-1B5E-0319-EA9A-8B826AF1B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a-DK" dirty="0"/>
              <a:t>Det er relativt nemt at køre: show ip route</a:t>
            </a:r>
          </a:p>
          <a:p>
            <a:pPr marL="0" indent="0">
              <a:buNone/>
            </a:pPr>
            <a:r>
              <a:rPr lang="da-DK" dirty="0"/>
              <a:t>og konstatere: 10.40.40.0/24 findes i routingtabellen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Men det fortæller ikke nødvendigvis hele historien.</a:t>
            </a:r>
          </a:p>
          <a:p>
            <a:pPr marL="0" indent="0">
              <a:buNone/>
            </a:pPr>
            <a:r>
              <a:rPr lang="da-DK" dirty="0"/>
              <a:t>Vi vil kunne svare på:</a:t>
            </a:r>
          </a:p>
          <a:p>
            <a:pPr lvl="1"/>
            <a:r>
              <a:rPr lang="da-DK" dirty="0"/>
              <a:t>Hvor kommer pakken fra? </a:t>
            </a:r>
          </a:p>
          <a:p>
            <a:pPr lvl="1"/>
            <a:r>
              <a:rPr lang="da-DK" dirty="0"/>
              <a:t>Hvad er destinationen? </a:t>
            </a:r>
          </a:p>
          <a:p>
            <a:pPr lvl="1"/>
            <a:r>
              <a:rPr lang="da-DK" dirty="0"/>
              <a:t>Hvilken router modtager pakken? </a:t>
            </a:r>
          </a:p>
          <a:p>
            <a:pPr lvl="1"/>
            <a:r>
              <a:rPr lang="da-DK" dirty="0"/>
              <a:t>Hvilket opslag foretager routeren? </a:t>
            </a:r>
          </a:p>
          <a:p>
            <a:pPr lvl="1"/>
            <a:r>
              <a:rPr lang="da-DK" dirty="0"/>
              <a:t>Hvilken route matcher? </a:t>
            </a:r>
          </a:p>
          <a:p>
            <a:pPr lvl="1"/>
            <a:r>
              <a:rPr lang="da-DK" dirty="0"/>
              <a:t>Hvad er næste hop? </a:t>
            </a:r>
          </a:p>
          <a:p>
            <a:pPr lvl="1"/>
            <a:r>
              <a:rPr lang="da-DK" dirty="0"/>
              <a:t>Hvilket interface skal pakken ud af? </a:t>
            </a:r>
          </a:p>
          <a:p>
            <a:pPr lvl="1"/>
            <a:r>
              <a:rPr lang="da-DK" dirty="0"/>
              <a:t>Kan svaret finde tilbage?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61723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63F6C-9867-2EF8-2B01-B221DB8D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47E4F0-25D1-DD8C-FBC5-9C04357A9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Arbejdsmetoden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2172378-B918-585F-27F4-1882B44C5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a-DK" dirty="0"/>
              <a:t>I hele øvelsen arbejder vi efter samme metode.</a:t>
            </a:r>
          </a:p>
          <a:p>
            <a:pPr marL="0" indent="0">
              <a:buNone/>
            </a:pPr>
            <a:r>
              <a:rPr lang="da-DK" dirty="0"/>
              <a:t>Før I ændrer konfigurationen:</a:t>
            </a:r>
          </a:p>
          <a:p>
            <a:pPr lvl="1"/>
            <a:r>
              <a:rPr lang="da-DK" dirty="0"/>
              <a:t>Forudsig, hvad der vil ske. </a:t>
            </a:r>
          </a:p>
          <a:p>
            <a:pPr lvl="1"/>
            <a:r>
              <a:rPr lang="da-DK" dirty="0"/>
              <a:t>Forklar hvorfor. </a:t>
            </a:r>
          </a:p>
          <a:p>
            <a:pPr lvl="1"/>
            <a:r>
              <a:rPr lang="da-DK" dirty="0"/>
              <a:t>Test jeres hypotese. </a:t>
            </a:r>
          </a:p>
          <a:p>
            <a:pPr lvl="1"/>
            <a:r>
              <a:rPr lang="da-DK" dirty="0"/>
              <a:t>Undersøg resultatet. </a:t>
            </a:r>
          </a:p>
          <a:p>
            <a:pPr lvl="1"/>
            <a:r>
              <a:rPr lang="da-DK" dirty="0"/>
              <a:t>Forklar eventuelle forskelle mellem jeres hypotese og det faktiske resultat.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Målet er ikke kun at få ping til at virke.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Målet er at kunne forklare, hvorfor det virker – eller hvorfor det ikke virker.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10254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3D24C-1532-8A89-D89A-4906C63A5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ACA73A-5501-43C5-2963-17E44F33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Topologi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A15E828-3FB6-BA65-428D-6687AA68E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a-DK" dirty="0"/>
              <a:t>Byg følgende topologi: LAN-A — PC-A — R1 — R2 — R3 — R4 — PC-D — LAN-D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R3 skal desuden have et ekstra LAN: R3 — PC-C — LAN-C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 skal selv udarbejde en IP-plan.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Krav:</a:t>
            </a:r>
          </a:p>
          <a:p>
            <a:pPr lvl="1"/>
            <a:r>
              <a:rPr lang="da-DK" dirty="0"/>
              <a:t>Hvert LAN skal have sit eget subnet. </a:t>
            </a:r>
          </a:p>
          <a:p>
            <a:pPr lvl="1"/>
            <a:r>
              <a:rPr lang="da-DK" dirty="0"/>
              <a:t>Hvert router-til-router-link skal have sit eget subnet. </a:t>
            </a:r>
          </a:p>
          <a:p>
            <a:pPr lvl="1"/>
            <a:r>
              <a:rPr lang="da-DK" dirty="0"/>
              <a:t>Alle routerinterfaces skal adresseres. </a:t>
            </a:r>
          </a:p>
          <a:p>
            <a:pPr lvl="1"/>
            <a:r>
              <a:rPr lang="da-DK" dirty="0"/>
              <a:t>Alle klienter skal have IP-adresse og default gateway. </a:t>
            </a:r>
          </a:p>
          <a:p>
            <a:pPr lvl="1"/>
            <a:r>
              <a:rPr lang="da-DK" dirty="0"/>
              <a:t>IP-planen skal dokumenteres. </a:t>
            </a:r>
          </a:p>
          <a:p>
            <a:pPr lvl="1"/>
            <a:r>
              <a:rPr lang="da-DK" dirty="0"/>
              <a:t>Ingen dynamisk routing eller statiske routes endnu.</a:t>
            </a:r>
            <a:br>
              <a:rPr lang="da-DK" dirty="0"/>
            </a:br>
            <a:br>
              <a:rPr lang="da-DK" dirty="0"/>
            </a:b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75361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D50EA-B8FC-AEA5-C72E-56889645D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68999-64B3-6D2E-7FC4-66D399C9C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Del 1: Hvad ved routerne allerede?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030908E-F477-5044-6F91-2B051FF12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a-DK" dirty="0"/>
              <a:t>Når alle interfaces er konfigureret og up/up: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Undersøg:</a:t>
            </a:r>
          </a:p>
          <a:p>
            <a:pPr lvl="1"/>
            <a:r>
              <a:rPr lang="da-DK" dirty="0"/>
              <a:t>show ip interface brief</a:t>
            </a:r>
          </a:p>
          <a:p>
            <a:pPr lvl="1"/>
            <a:r>
              <a:rPr lang="da-DK" dirty="0"/>
              <a:t>show ip route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Besvar:</a:t>
            </a:r>
          </a:p>
          <a:p>
            <a:pPr lvl="1"/>
            <a:r>
              <a:rPr lang="da-DK" dirty="0"/>
              <a:t>Hvilke routes findes allerede? </a:t>
            </a:r>
          </a:p>
          <a:p>
            <a:pPr lvl="1"/>
            <a:r>
              <a:rPr lang="da-DK" dirty="0"/>
              <a:t>Hvor kommer de fra? </a:t>
            </a:r>
          </a:p>
          <a:p>
            <a:pPr lvl="1"/>
            <a:r>
              <a:rPr lang="da-DK" dirty="0"/>
              <a:t>Hvilke netværk kender R1? </a:t>
            </a:r>
          </a:p>
          <a:p>
            <a:pPr lvl="1"/>
            <a:r>
              <a:rPr lang="da-DK" dirty="0"/>
              <a:t>Hvilke netværk kender R4? </a:t>
            </a:r>
          </a:p>
          <a:p>
            <a:pPr lvl="1"/>
            <a:r>
              <a:rPr lang="da-DK" dirty="0"/>
              <a:t>Kender en router automatisk alle netværk i topologien?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08439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D9827-C2B2-B595-7738-D1E3632F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C1278-8A2F-B93C-415C-943CFAF9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Del 1: Første test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E208BDB-5F2F-7F68-F0ED-9CA1F7C40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a-DK" dirty="0"/>
              <a:t>Fra PC-A skal I pinge: &lt;PC-D-IP&gt; </a:t>
            </a:r>
          </a:p>
          <a:p>
            <a:pPr marL="0" indent="0">
              <a:buNone/>
            </a:pPr>
            <a:r>
              <a:rPr lang="da-DK" dirty="0"/>
              <a:t>Vent med at udføre ping, og forudsig først pakkens vej.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Besvar:</a:t>
            </a:r>
          </a:p>
          <a:p>
            <a:pPr lvl="1"/>
            <a:r>
              <a:rPr lang="da-DK" dirty="0"/>
              <a:t>Er &lt;PC-D-IP&gt; lokal eller </a:t>
            </a:r>
            <a:r>
              <a:rPr lang="da-DK" dirty="0" err="1"/>
              <a:t>remote</a:t>
            </a:r>
            <a:r>
              <a:rPr lang="da-DK" dirty="0"/>
              <a:t> set fra PC-A? </a:t>
            </a:r>
          </a:p>
          <a:p>
            <a:pPr lvl="1"/>
            <a:r>
              <a:rPr lang="da-DK" dirty="0"/>
              <a:t>Hvad gør PC-A derfor med pakken? </a:t>
            </a:r>
          </a:p>
          <a:p>
            <a:pPr lvl="1"/>
            <a:r>
              <a:rPr lang="da-DK" dirty="0"/>
              <a:t>Hvilken enhed modtager pakken først? </a:t>
            </a:r>
          </a:p>
          <a:p>
            <a:pPr lvl="1"/>
            <a:r>
              <a:rPr lang="da-DK" dirty="0"/>
              <a:t>Hvad gør denne enhed med destinationens IP-adresse? </a:t>
            </a:r>
          </a:p>
          <a:p>
            <a:pPr lvl="1"/>
            <a:r>
              <a:rPr lang="da-DK" dirty="0"/>
              <a:t>Hvor langt forventer I, at pakken kommer? </a:t>
            </a:r>
          </a:p>
          <a:p>
            <a:pPr lvl="1"/>
            <a:r>
              <a:rPr lang="da-DK" dirty="0"/>
              <a:t>Hvorfor? </a:t>
            </a:r>
          </a:p>
          <a:p>
            <a:pPr marL="0" indent="0">
              <a:buNone/>
            </a:pPr>
            <a:r>
              <a:rPr lang="da-DK" dirty="0"/>
              <a:t>Test derefter og Sammenlign resultatet med jeres hypotese.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29426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F2E8D-00D7-1C78-28DE-4C94BC85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8E95C1-E821-ED75-8B02-7AEC126F1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Del 1: Hvor stoppede pakken?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6E272A9-8F2D-E614-E46C-D7F150DA7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/>
              <a:t>Find den enhed, hvor I mener, pakken stopper.</a:t>
            </a:r>
          </a:p>
          <a:p>
            <a:pPr marL="0" indent="0">
              <a:buNone/>
            </a:pPr>
            <a:r>
              <a:rPr lang="da-DK" dirty="0"/>
              <a:t>Undersøg:</a:t>
            </a:r>
          </a:p>
          <a:p>
            <a:pPr lvl="1"/>
            <a:r>
              <a:rPr lang="da-DK" dirty="0"/>
              <a:t>show ip route</a:t>
            </a:r>
          </a:p>
          <a:p>
            <a:pPr lvl="1"/>
            <a:r>
              <a:rPr lang="da-DK" dirty="0"/>
              <a:t>show ip route &lt;PC-D-IP&gt;</a:t>
            </a:r>
          </a:p>
          <a:p>
            <a:pPr marL="0" indent="0">
              <a:buNone/>
            </a:pPr>
            <a:r>
              <a:rPr lang="da-DK" dirty="0"/>
              <a:t>Besvar:</a:t>
            </a:r>
          </a:p>
          <a:p>
            <a:pPr lvl="1"/>
            <a:r>
              <a:rPr lang="da-DK" dirty="0"/>
              <a:t>Findes der en route, som matcher destinationen? </a:t>
            </a:r>
          </a:p>
          <a:p>
            <a:pPr lvl="1"/>
            <a:r>
              <a:rPr lang="da-DK" dirty="0"/>
              <a:t>Hvis ikke, hvad gør routeren? </a:t>
            </a:r>
          </a:p>
          <a:p>
            <a:pPr lvl="1"/>
            <a:r>
              <a:rPr lang="da-DK" dirty="0"/>
              <a:t>Vælger routeren bare et interface? </a:t>
            </a:r>
          </a:p>
          <a:p>
            <a:pPr lvl="1"/>
            <a:r>
              <a:rPr lang="da-DK" dirty="0"/>
              <a:t>Hvordan beslutter en router, hvilket interface pakken skal forlade?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17248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CD7C2-AC75-5FD0-C553-CBFD7D192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BE1C82-C576-0E7C-4A13-EAFAFD69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Del 2: Ny information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BD4F330-DC42-68A9-2680-8120172EB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a-DK" dirty="0"/>
              <a:t>Tilføj en statisk route på R1: ip route &lt;LAN-D-NETVÆRK&gt; &lt;SUBNETMASKE&gt; &lt;R2-NEXT-HOP&gt;</a:t>
            </a:r>
          </a:p>
          <a:p>
            <a:pPr marL="0" indent="0">
              <a:buNone/>
            </a:pPr>
            <a:r>
              <a:rPr lang="da-DK" dirty="0"/>
              <a:t>Ping ikke endnu !!!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Undersøg:</a:t>
            </a:r>
          </a:p>
          <a:p>
            <a:pPr lvl="1"/>
            <a:r>
              <a:rPr lang="da-DK" dirty="0"/>
              <a:t>show ip route</a:t>
            </a:r>
          </a:p>
          <a:p>
            <a:pPr lvl="1"/>
            <a:r>
              <a:rPr lang="da-DK" dirty="0"/>
              <a:t>show ip route &lt;PC-D-IP&gt;</a:t>
            </a:r>
          </a:p>
          <a:p>
            <a:pPr marL="0" indent="0">
              <a:buNone/>
            </a:pPr>
            <a:r>
              <a:rPr lang="da-DK" dirty="0"/>
              <a:t>Besvar:</a:t>
            </a:r>
          </a:p>
          <a:p>
            <a:pPr lvl="1"/>
            <a:r>
              <a:rPr lang="da-DK" dirty="0"/>
              <a:t>Hvad har ændret sig? </a:t>
            </a:r>
          </a:p>
          <a:p>
            <a:pPr lvl="1"/>
            <a:r>
              <a:rPr lang="da-DK" dirty="0"/>
              <a:t>Hvad betyder &lt;R2-NEXT-HOP&gt;? </a:t>
            </a:r>
          </a:p>
          <a:p>
            <a:pPr lvl="1"/>
            <a:r>
              <a:rPr lang="da-DK" dirty="0"/>
              <a:t>Hvordan ved R1, hvordan den når dette </a:t>
            </a:r>
            <a:r>
              <a:rPr lang="da-DK" dirty="0" err="1"/>
              <a:t>next</a:t>
            </a:r>
            <a:r>
              <a:rPr lang="da-DK" dirty="0"/>
              <a:t> hop? </a:t>
            </a:r>
          </a:p>
          <a:p>
            <a:pPr lvl="1"/>
            <a:r>
              <a:rPr lang="da-DK" dirty="0"/>
              <a:t>Hvilket interface forventer I, pakken forlader? </a:t>
            </a:r>
          </a:p>
          <a:p>
            <a:pPr lvl="1"/>
            <a:r>
              <a:rPr lang="da-DK" dirty="0"/>
              <a:t>Hvor langt forventer I nu, at pakken kommer?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Test derefter.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50474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431AE-B3D5-7140-C458-844320844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537731-7683-EFEF-21F3-CC7C97C4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Del 2: Følg pakken videre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0FD7291-49F0-F535-944A-9D2BA553C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a-DK" dirty="0"/>
              <a:t>Følg pakken router for router.</a:t>
            </a:r>
          </a:p>
          <a:p>
            <a:pPr marL="0" indent="0">
              <a:buNone/>
            </a:pPr>
            <a:r>
              <a:rPr lang="da-DK" dirty="0"/>
              <a:t>For hver router skal I kunne svare på:</a:t>
            </a:r>
          </a:p>
          <a:p>
            <a:pPr lvl="1"/>
            <a:r>
              <a:rPr lang="da-DK" dirty="0"/>
              <a:t>Hvad er pakkens destination? </a:t>
            </a:r>
          </a:p>
          <a:p>
            <a:pPr lvl="1"/>
            <a:r>
              <a:rPr lang="da-DK" dirty="0"/>
              <a:t>Hvilken route matcher? </a:t>
            </a:r>
          </a:p>
          <a:p>
            <a:pPr lvl="1"/>
            <a:r>
              <a:rPr lang="da-DK" dirty="0"/>
              <a:t>Hvad er </a:t>
            </a:r>
            <a:r>
              <a:rPr lang="da-DK" dirty="0" err="1"/>
              <a:t>next</a:t>
            </a:r>
            <a:r>
              <a:rPr lang="da-DK" dirty="0"/>
              <a:t> hop? </a:t>
            </a:r>
          </a:p>
          <a:p>
            <a:pPr lvl="1"/>
            <a:r>
              <a:rPr lang="da-DK" dirty="0"/>
              <a:t>Hvilket interface forlader pakken? </a:t>
            </a:r>
          </a:p>
          <a:p>
            <a:pPr lvl="1"/>
            <a:r>
              <a:rPr lang="da-DK" dirty="0"/>
              <a:t>Kan routeren sende pakken videre?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Tilføj kun den routinginformation, I mener er nødvendig.</a:t>
            </a:r>
          </a:p>
          <a:p>
            <a:pPr marL="0" indent="0">
              <a:buNone/>
            </a:pPr>
            <a:r>
              <a:rPr lang="da-DK" dirty="0"/>
              <a:t>Efter hver ændring: Forudsig → Test → Forklar</a:t>
            </a:r>
          </a:p>
          <a:p>
            <a:pPr marL="0" indent="0">
              <a:buNone/>
            </a:pPr>
            <a:r>
              <a:rPr lang="da-DK" dirty="0"/>
              <a:t>Målet er at få ICMP Echo </a:t>
            </a:r>
            <a:r>
              <a:rPr lang="da-DK" dirty="0" err="1"/>
              <a:t>Request</a:t>
            </a:r>
            <a:r>
              <a:rPr lang="da-DK" dirty="0"/>
              <a:t> frem til PC-D.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68463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F5FD1-F848-353C-F5B7-01DCF2250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E7EE47-B621-11CD-3CE8-89BB54C5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Del 3: Er vi færdige?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5402DC9-4E10-DB81-E3CA-23162C339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a-DK" dirty="0"/>
              <a:t>Når I mener, at pakken kan nå PC-D:</a:t>
            </a:r>
          </a:p>
          <a:p>
            <a:pPr marL="0" indent="0">
              <a:buNone/>
            </a:pPr>
            <a:r>
              <a:rPr lang="da-DK" dirty="0"/>
              <a:t>Stop !! - Ping ikke endnu.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Tegn pakkens vej: PC-A → R1 → R2 → R3 → R4 → PC-D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Besvar:</a:t>
            </a:r>
          </a:p>
          <a:p>
            <a:pPr lvl="1"/>
            <a:r>
              <a:rPr lang="da-DK" dirty="0"/>
              <a:t>Hvad gør PC-D, når den modtager en ICMP Echo </a:t>
            </a:r>
            <a:r>
              <a:rPr lang="da-DK" dirty="0" err="1"/>
              <a:t>Request</a:t>
            </a:r>
            <a:r>
              <a:rPr lang="da-DK" dirty="0"/>
              <a:t>? </a:t>
            </a:r>
          </a:p>
          <a:p>
            <a:pPr lvl="1"/>
            <a:r>
              <a:rPr lang="da-DK" dirty="0"/>
              <a:t>Hvad er source IP på den nye pakke? </a:t>
            </a:r>
          </a:p>
          <a:p>
            <a:pPr lvl="1"/>
            <a:r>
              <a:rPr lang="da-DK" dirty="0"/>
              <a:t>Hvad er destination IP? </a:t>
            </a:r>
          </a:p>
          <a:p>
            <a:pPr lvl="1"/>
            <a:r>
              <a:rPr lang="da-DK" dirty="0"/>
              <a:t>Hvad gør PC-D med destinationen? </a:t>
            </a:r>
          </a:p>
          <a:p>
            <a:pPr lvl="1"/>
            <a:r>
              <a:rPr lang="da-DK" dirty="0"/>
              <a:t>Hvad sker der derefter? </a:t>
            </a:r>
          </a:p>
          <a:p>
            <a:pPr lvl="1"/>
            <a:r>
              <a:rPr lang="da-DK" dirty="0"/>
              <a:t>Følg den nye pakke gennem netværket.</a:t>
            </a:r>
          </a:p>
          <a:p>
            <a:pPr lvl="1"/>
            <a:r>
              <a:rPr lang="da-DK" dirty="0"/>
              <a:t>Hvor forventer I, at den kommer hen?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92292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E092-A973-5EA5-010A-5B6B04752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A819E6-9929-8F87-3B53-D2B8D847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Del 3: Få kommunikationen til at fungere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2C7818C-002E-D503-BC91-030131A59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/>
              <a:t>Målet er: PC-A skal kunne pinge &lt;PC-D-IP&gt;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For hver route, I tilføjer, skal I kunne forklare:</a:t>
            </a:r>
          </a:p>
          <a:p>
            <a:pPr lvl="1"/>
            <a:r>
              <a:rPr lang="da-DK" dirty="0"/>
              <a:t>Hvilken router mangler information? </a:t>
            </a:r>
          </a:p>
          <a:p>
            <a:pPr lvl="1"/>
            <a:r>
              <a:rPr lang="da-DK" dirty="0"/>
              <a:t>Hvilket destinationsnetværk mangler den? </a:t>
            </a:r>
          </a:p>
          <a:p>
            <a:pPr lvl="1"/>
            <a:r>
              <a:rPr lang="da-DK" dirty="0"/>
              <a:t>Hvad skal </a:t>
            </a:r>
            <a:r>
              <a:rPr lang="da-DK" dirty="0" err="1"/>
              <a:t>next</a:t>
            </a:r>
            <a:r>
              <a:rPr lang="da-DK" dirty="0"/>
              <a:t> hop være? </a:t>
            </a:r>
          </a:p>
          <a:p>
            <a:pPr lvl="1"/>
            <a:r>
              <a:rPr lang="da-DK" dirty="0"/>
              <a:t>Hvorfor er </a:t>
            </a:r>
            <a:r>
              <a:rPr lang="da-DK" dirty="0" err="1"/>
              <a:t>routen</a:t>
            </a:r>
            <a:r>
              <a:rPr lang="da-DK" dirty="0"/>
              <a:t> nødvendig? </a:t>
            </a:r>
          </a:p>
          <a:p>
            <a:pPr marL="0" indent="0">
              <a:buNone/>
            </a:pPr>
            <a:r>
              <a:rPr lang="da-DK" dirty="0"/>
              <a:t>Når ping virker, tegn både:</a:t>
            </a:r>
          </a:p>
          <a:p>
            <a:pPr lvl="1"/>
            <a:r>
              <a:rPr lang="da-DK" dirty="0"/>
              <a:t>ICMP Echo </a:t>
            </a:r>
            <a:r>
              <a:rPr lang="da-DK" dirty="0" err="1"/>
              <a:t>Request</a:t>
            </a:r>
            <a:r>
              <a:rPr lang="da-DK" dirty="0"/>
              <a:t> → og ← ICMP Echo </a:t>
            </a:r>
            <a:r>
              <a:rPr lang="da-DK" dirty="0" err="1"/>
              <a:t>Reply</a:t>
            </a:r>
            <a:r>
              <a:rPr lang="da-DK" dirty="0"/>
              <a:t> gennem hele topologien.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95080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ABA4A-ECFF-55B6-4B79-5E65B57A5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11B8F8-01BE-DD92-E14F-3F6B12781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har vi egentlig arbejdet med?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C8DA728-0BEF-C317-E4B0-105D01E5C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/>
              <a:t>Indtil nu har vi brugt: show ip route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Men hvad er routingtabellen? Og er routingtabellen den struktur, som routerens dataplane bruger direkte til hvert eneste </a:t>
            </a:r>
            <a:r>
              <a:rPr lang="da-DK" dirty="0" err="1"/>
              <a:t>packet</a:t>
            </a:r>
            <a:r>
              <a:rPr lang="da-DK" dirty="0"/>
              <a:t> </a:t>
            </a:r>
            <a:r>
              <a:rPr lang="da-DK" dirty="0" err="1"/>
              <a:t>lookup</a:t>
            </a:r>
            <a:r>
              <a:rPr lang="da-DK" dirty="0"/>
              <a:t>?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Vi introducerer nu:</a:t>
            </a:r>
          </a:p>
          <a:p>
            <a:pPr lvl="1"/>
            <a:r>
              <a:rPr lang="da-DK" dirty="0"/>
              <a:t>RIB – Routing Information Base</a:t>
            </a:r>
          </a:p>
          <a:p>
            <a:pPr lvl="1"/>
            <a:r>
              <a:rPr lang="da-DK" dirty="0"/>
              <a:t>FIB – </a:t>
            </a:r>
            <a:r>
              <a:rPr lang="da-DK" dirty="0" err="1"/>
              <a:t>Forwarding</a:t>
            </a:r>
            <a:r>
              <a:rPr lang="da-DK" dirty="0"/>
              <a:t> Information Base</a:t>
            </a:r>
          </a:p>
        </p:txBody>
      </p:sp>
    </p:spTree>
    <p:extLst>
      <p:ext uri="{BB962C8B-B14F-4D97-AF65-F5344CB8AC3E}">
        <p14:creationId xmlns:p14="http://schemas.microsoft.com/office/powerpoint/2010/main" val="3738679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081E02-577F-53D9-83F3-DEB8D4F3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RIB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FBA8E21-7853-580B-DF8F-34914818D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a-DK" dirty="0"/>
              <a:t>RIB står for:</a:t>
            </a:r>
          </a:p>
          <a:p>
            <a:pPr lvl="1"/>
            <a:r>
              <a:rPr lang="da-DK" dirty="0"/>
              <a:t>Routing Information Base</a:t>
            </a:r>
          </a:p>
          <a:p>
            <a:pPr lvl="1"/>
            <a:r>
              <a:rPr lang="da-DK" dirty="0"/>
              <a:t>RIB hører til </a:t>
            </a:r>
            <a:r>
              <a:rPr lang="da-DK" dirty="0" err="1"/>
              <a:t>control</a:t>
            </a:r>
            <a:r>
              <a:rPr lang="da-DK" dirty="0"/>
              <a:t> plane.</a:t>
            </a:r>
          </a:p>
          <a:p>
            <a:pPr marL="0" indent="0">
              <a:buNone/>
            </a:pPr>
            <a:r>
              <a:rPr lang="da-DK" dirty="0"/>
              <a:t>Routes kan blandt andet komme fra:</a:t>
            </a:r>
          </a:p>
          <a:p>
            <a:pPr lvl="1"/>
            <a:r>
              <a:rPr lang="da-DK" dirty="0" err="1"/>
              <a:t>Connected</a:t>
            </a:r>
            <a:r>
              <a:rPr lang="da-DK" dirty="0"/>
              <a:t> </a:t>
            </a:r>
          </a:p>
          <a:p>
            <a:pPr lvl="1"/>
            <a:r>
              <a:rPr lang="da-DK" dirty="0" err="1"/>
              <a:t>Static</a:t>
            </a:r>
            <a:r>
              <a:rPr lang="da-DK" dirty="0"/>
              <a:t> </a:t>
            </a:r>
          </a:p>
          <a:p>
            <a:pPr lvl="1"/>
            <a:r>
              <a:rPr lang="da-DK" dirty="0"/>
              <a:t>OSPF </a:t>
            </a:r>
          </a:p>
          <a:p>
            <a:pPr lvl="1"/>
            <a:r>
              <a:rPr lang="da-DK" dirty="0"/>
              <a:t>BGP </a:t>
            </a:r>
          </a:p>
          <a:p>
            <a:pPr marL="0" indent="0">
              <a:buNone/>
            </a:pPr>
            <a:r>
              <a:rPr lang="da-DK" dirty="0"/>
              <a:t>show ip route viser routerens installerede routinginformation.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Diskutér:</a:t>
            </a:r>
          </a:p>
          <a:p>
            <a:pPr lvl="1"/>
            <a:r>
              <a:rPr lang="da-DK" dirty="0"/>
              <a:t>Hvilke routes havde R1 i Del 1?</a:t>
            </a:r>
          </a:p>
          <a:p>
            <a:pPr lvl="1"/>
            <a:r>
              <a:rPr lang="da-DK" dirty="0"/>
              <a:t>Hvad blev tilføjet i Del 2?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61692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1B5478-CBB8-13A2-513E-536C0F44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FIB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A595F2C-0F27-9FD4-0CBE-9328C466D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a-DK" dirty="0"/>
              <a:t>FIB står for: </a:t>
            </a:r>
            <a:r>
              <a:rPr lang="da-DK" dirty="0" err="1"/>
              <a:t>Forwarding</a:t>
            </a:r>
            <a:r>
              <a:rPr lang="da-DK" dirty="0"/>
              <a:t> Information Base</a:t>
            </a:r>
          </a:p>
          <a:p>
            <a:pPr marL="0" indent="0">
              <a:buNone/>
            </a:pPr>
            <a:r>
              <a:rPr lang="da-DK" dirty="0"/>
              <a:t>FIB hører til dataplane.</a:t>
            </a:r>
          </a:p>
          <a:p>
            <a:pPr marL="0" indent="0">
              <a:buNone/>
            </a:pPr>
            <a:r>
              <a:rPr lang="da-DK" dirty="0"/>
              <a:t>FIB bruges til effektiv </a:t>
            </a:r>
            <a:r>
              <a:rPr lang="da-DK" dirty="0" err="1"/>
              <a:t>forwarding</a:t>
            </a:r>
            <a:r>
              <a:rPr lang="da-DK" dirty="0"/>
              <a:t> af pakker.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Forenklet:</a:t>
            </a:r>
          </a:p>
          <a:p>
            <a:pPr marL="0" indent="0">
              <a:buNone/>
            </a:pPr>
            <a:r>
              <a:rPr lang="da-DK" dirty="0"/>
              <a:t>  Routingkilder</a:t>
            </a:r>
          </a:p>
          <a:p>
            <a:pPr marL="0" indent="0">
              <a:buNone/>
            </a:pPr>
            <a:r>
              <a:rPr lang="da-DK" dirty="0"/>
              <a:t>       ↓</a:t>
            </a:r>
          </a:p>
          <a:p>
            <a:pPr marL="0" indent="0">
              <a:buNone/>
            </a:pPr>
            <a:r>
              <a:rPr lang="da-DK" dirty="0"/>
              <a:t>     RIB</a:t>
            </a:r>
          </a:p>
          <a:p>
            <a:pPr marL="0" indent="0">
              <a:buNone/>
            </a:pPr>
            <a:r>
              <a:rPr lang="da-DK" dirty="0"/>
              <a:t>       ↓</a:t>
            </a:r>
          </a:p>
          <a:p>
            <a:pPr marL="0" indent="0">
              <a:buNone/>
            </a:pPr>
            <a:r>
              <a:rPr lang="da-DK" dirty="0"/>
              <a:t>     FIB</a:t>
            </a:r>
          </a:p>
          <a:p>
            <a:pPr marL="0" indent="0">
              <a:buNone/>
            </a:pPr>
            <a:r>
              <a:rPr lang="da-DK" dirty="0"/>
              <a:t>       ↓</a:t>
            </a:r>
          </a:p>
          <a:p>
            <a:pPr marL="0" indent="0">
              <a:buNone/>
            </a:pPr>
            <a:r>
              <a:rPr lang="da-DK" dirty="0"/>
              <a:t> </a:t>
            </a:r>
            <a:r>
              <a:rPr lang="da-DK" dirty="0" err="1"/>
              <a:t>Forwarding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På Cisco kan </a:t>
            </a:r>
            <a:r>
              <a:rPr lang="da-DK" dirty="0" err="1"/>
              <a:t>forwarding</a:t>
            </a:r>
            <a:r>
              <a:rPr lang="da-DK" dirty="0"/>
              <a:t>-information blandt andet undersøges med: show ip </a:t>
            </a:r>
            <a:r>
              <a:rPr lang="da-DK" dirty="0" err="1"/>
              <a:t>cef</a:t>
            </a: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2546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1771B4-9819-9121-8E09-027F136F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RIB i vores 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9DCBC18-2A80-4B28-1BC9-786B99FCF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/>
              <a:t>I Del 2 konfigurerede vi: ip route 10.40.40.0 255.255.255.0 10.0.12.2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Undersøg igen: show ip route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Besvar:</a:t>
            </a:r>
          </a:p>
          <a:p>
            <a:pPr lvl="1"/>
            <a:r>
              <a:rPr lang="da-DK" dirty="0"/>
              <a:t>Hvad er blevet tilføjet? </a:t>
            </a:r>
          </a:p>
          <a:p>
            <a:pPr lvl="1"/>
            <a:r>
              <a:rPr lang="da-DK" dirty="0"/>
              <a:t>Hvor kom informationen fra? </a:t>
            </a:r>
          </a:p>
          <a:p>
            <a:pPr lvl="1"/>
            <a:r>
              <a:rPr lang="da-DK" dirty="0"/>
              <a:t>Hvordan kan I se, at det er en statisk route? </a:t>
            </a:r>
          </a:p>
          <a:p>
            <a:pPr lvl="1"/>
            <a:r>
              <a:rPr lang="da-DK" dirty="0"/>
              <a:t>Hvad fortæller </a:t>
            </a:r>
            <a:r>
              <a:rPr lang="da-DK" dirty="0" err="1"/>
              <a:t>routen</a:t>
            </a:r>
            <a:r>
              <a:rPr lang="da-DK" dirty="0"/>
              <a:t> R1?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36667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D31726-2197-06B2-105A-24AEFC128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FIB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FC38945-B48E-99D0-7DD7-AD6D9D28D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a-DK" dirty="0"/>
              <a:t>FIB står for: </a:t>
            </a:r>
            <a:r>
              <a:rPr lang="da-DK" dirty="0" err="1"/>
              <a:t>Forwarding</a:t>
            </a:r>
            <a:r>
              <a:rPr lang="da-DK" dirty="0"/>
              <a:t> Information Base</a:t>
            </a:r>
          </a:p>
          <a:p>
            <a:pPr lvl="1"/>
            <a:r>
              <a:rPr lang="da-DK" dirty="0"/>
              <a:t>FIB hører til dataplanen.</a:t>
            </a:r>
          </a:p>
          <a:p>
            <a:pPr lvl="1"/>
            <a:r>
              <a:rPr lang="da-DK" dirty="0"/>
              <a:t>FIB er den struktur, routeren bruger til effektivt at træffe </a:t>
            </a:r>
            <a:r>
              <a:rPr lang="da-DK" dirty="0" err="1"/>
              <a:t>forwarding</a:t>
            </a:r>
            <a:r>
              <a:rPr lang="da-DK" dirty="0"/>
              <a:t>-beslutninger for pakker.</a:t>
            </a:r>
          </a:p>
          <a:p>
            <a:pPr marL="0" indent="0">
              <a:buNone/>
            </a:pPr>
            <a:r>
              <a:rPr lang="da-DK" dirty="0"/>
              <a:t>En forenklet proces: </a:t>
            </a:r>
          </a:p>
          <a:p>
            <a:pPr marL="0" indent="0">
              <a:buNone/>
            </a:pPr>
            <a:r>
              <a:rPr lang="da-DK" dirty="0" err="1"/>
              <a:t>Connected</a:t>
            </a:r>
            <a:r>
              <a:rPr lang="da-DK" dirty="0"/>
              <a:t> / </a:t>
            </a:r>
            <a:r>
              <a:rPr lang="da-DK" dirty="0" err="1"/>
              <a:t>Static</a:t>
            </a:r>
            <a:r>
              <a:rPr lang="da-DK" dirty="0"/>
              <a:t> / OSPF / BGP Router</a:t>
            </a:r>
          </a:p>
          <a:p>
            <a:pPr marL="0" indent="0">
              <a:buNone/>
            </a:pPr>
            <a:r>
              <a:rPr lang="da-DK" dirty="0"/>
              <a:t>↓</a:t>
            </a:r>
          </a:p>
          <a:p>
            <a:pPr marL="0" indent="0">
              <a:buNone/>
            </a:pPr>
            <a:r>
              <a:rPr lang="da-DK" dirty="0"/>
              <a:t>RIB</a:t>
            </a:r>
          </a:p>
          <a:p>
            <a:pPr marL="0" indent="0">
              <a:buNone/>
            </a:pPr>
            <a:r>
              <a:rPr lang="da-DK" dirty="0"/>
              <a:t>↓</a:t>
            </a:r>
          </a:p>
          <a:p>
            <a:pPr marL="0" indent="0">
              <a:buNone/>
            </a:pPr>
            <a:r>
              <a:rPr lang="da-DK" dirty="0"/>
              <a:t>FIB</a:t>
            </a:r>
          </a:p>
          <a:p>
            <a:pPr marL="0" indent="0">
              <a:buNone/>
            </a:pPr>
            <a:r>
              <a:rPr lang="da-DK" dirty="0"/>
              <a:t>↓</a:t>
            </a:r>
          </a:p>
          <a:p>
            <a:pPr marL="0" indent="0">
              <a:buNone/>
            </a:pPr>
            <a:r>
              <a:rPr lang="da-DK" dirty="0" err="1"/>
              <a:t>Forwarding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På Cisco kan vi blandt andet undersøge </a:t>
            </a:r>
            <a:r>
              <a:rPr lang="da-DK" dirty="0" err="1"/>
              <a:t>forwarding</a:t>
            </a:r>
            <a:r>
              <a:rPr lang="da-DK" dirty="0"/>
              <a:t>-information med: show ip </a:t>
            </a:r>
            <a:r>
              <a:rPr lang="da-DK" dirty="0" err="1"/>
              <a:t>cef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6449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81DA53-61A4-815F-29FC-009F3B76A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Sammenlign RIB og FIB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C3F4EA7-0004-682F-DD14-56E685489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a-DK" dirty="0"/>
              <a:t>På R1:</a:t>
            </a:r>
          </a:p>
          <a:p>
            <a:pPr lvl="1"/>
            <a:r>
              <a:rPr lang="da-DK" dirty="0"/>
              <a:t>show ip route &lt;PC-D-IP&gt;</a:t>
            </a:r>
          </a:p>
          <a:p>
            <a:pPr lvl="1"/>
            <a:r>
              <a:rPr lang="da-DK" dirty="0"/>
              <a:t>show ip </a:t>
            </a:r>
            <a:r>
              <a:rPr lang="da-DK" dirty="0" err="1"/>
              <a:t>cef</a:t>
            </a:r>
            <a:r>
              <a:rPr lang="da-DK" dirty="0"/>
              <a:t> &lt;PC-D-IP&gt;</a:t>
            </a:r>
          </a:p>
          <a:p>
            <a:pPr marL="0" indent="0">
              <a:buNone/>
            </a:pPr>
            <a:r>
              <a:rPr lang="da-DK" dirty="0"/>
              <a:t>Sammenlign resultaterne.</a:t>
            </a:r>
          </a:p>
          <a:p>
            <a:pPr marL="0" indent="0">
              <a:buNone/>
            </a:pPr>
            <a:r>
              <a:rPr lang="da-DK" dirty="0"/>
              <a:t>Find:</a:t>
            </a:r>
          </a:p>
          <a:p>
            <a:pPr lvl="1"/>
            <a:r>
              <a:rPr lang="da-DK" dirty="0"/>
              <a:t>Destination/</a:t>
            </a:r>
            <a:r>
              <a:rPr lang="da-DK" dirty="0" err="1"/>
              <a:t>prefix</a:t>
            </a:r>
            <a:r>
              <a:rPr lang="da-DK" dirty="0"/>
              <a:t> </a:t>
            </a:r>
          </a:p>
          <a:p>
            <a:pPr lvl="1"/>
            <a:r>
              <a:rPr lang="da-DK" dirty="0" err="1"/>
              <a:t>Next</a:t>
            </a:r>
            <a:r>
              <a:rPr lang="da-DK" dirty="0"/>
              <a:t> hop </a:t>
            </a:r>
          </a:p>
          <a:p>
            <a:pPr lvl="1"/>
            <a:r>
              <a:rPr lang="da-DK" dirty="0" err="1"/>
              <a:t>Egress</a:t>
            </a:r>
            <a:r>
              <a:rPr lang="da-DK" dirty="0"/>
              <a:t> interface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Forklar med egne ord:</a:t>
            </a:r>
          </a:p>
          <a:p>
            <a:pPr lvl="1"/>
            <a:r>
              <a:rPr lang="da-DK" dirty="0"/>
              <a:t>Hvad fortæller RIB os?</a:t>
            </a:r>
          </a:p>
          <a:p>
            <a:pPr lvl="1"/>
            <a:r>
              <a:rPr lang="da-DK" dirty="0"/>
              <a:t>Hvad fortæller FIB os?</a:t>
            </a:r>
          </a:p>
          <a:p>
            <a:pPr lvl="1"/>
            <a:r>
              <a:rPr lang="da-DK" dirty="0"/>
              <a:t>Hvorfor har routeren brug for begge?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94317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4E6D6F-5C51-54F6-7371-5A92BFF49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ROUTE SELECTION OG FORWARDING </a:t>
            </a:r>
            <a:br>
              <a:rPr lang="da-DK" dirty="0"/>
            </a:br>
            <a:r>
              <a:rPr lang="da-DK" dirty="0"/>
              <a:t>- Nu bliver det sjovt !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96B9A5-F9E8-57A4-3389-270CCC6B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a-DK" dirty="0"/>
              <a:t>Udvid topologien, så der findes to mulige veje mellem R1 og R4.</a:t>
            </a:r>
          </a:p>
          <a:p>
            <a:pPr marL="0" indent="0">
              <a:buNone/>
            </a:pPr>
            <a:r>
              <a:rPr lang="da-DK" dirty="0"/>
              <a:t>For eksempel:</a:t>
            </a:r>
          </a:p>
          <a:p>
            <a:pPr lvl="1"/>
            <a:r>
              <a:rPr lang="da-DK" dirty="0"/>
              <a:t>R1 → R2 → R4</a:t>
            </a:r>
          </a:p>
          <a:p>
            <a:pPr marL="0" indent="0">
              <a:buNone/>
            </a:pPr>
            <a:r>
              <a:rPr lang="da-DK" dirty="0"/>
              <a:t>og</a:t>
            </a:r>
          </a:p>
          <a:p>
            <a:pPr lvl="1"/>
            <a:r>
              <a:rPr lang="da-DK" dirty="0"/>
              <a:t>R1 → R3 → R4</a:t>
            </a:r>
          </a:p>
          <a:p>
            <a:pPr lvl="1"/>
            <a:r>
              <a:rPr lang="da-DK" dirty="0"/>
              <a:t>PC-A befinder sig bag R1.</a:t>
            </a:r>
          </a:p>
          <a:p>
            <a:pPr lvl="1"/>
            <a:r>
              <a:rPr lang="da-DK" dirty="0"/>
              <a:t>PC-D befinder sig bag R4.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Behold jeres eksisterende adresser, og adressér de nye links.</a:t>
            </a:r>
          </a:p>
          <a:p>
            <a:r>
              <a:rPr lang="da-DK" dirty="0"/>
              <a:t>Konfigurér ikke nye routes endnu.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44898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5ADBC3-4B7E-F0F1-6355-50E29B4B2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Flere routes kan matche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EBA53A5-0D14-1053-EF03-8D7DEE295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/>
              <a:t>Konfigurér på R1: En statisk route til:</a:t>
            </a:r>
          </a:p>
          <a:p>
            <a:pPr lvl="1"/>
            <a:r>
              <a:rPr lang="da-DK" dirty="0"/>
              <a:t>&lt;STØRRE-PREFIX&gt;</a:t>
            </a:r>
          </a:p>
          <a:p>
            <a:pPr lvl="1"/>
            <a:r>
              <a:rPr lang="da-DK" dirty="0"/>
              <a:t>via R2.</a:t>
            </a:r>
          </a:p>
          <a:p>
            <a:pPr lvl="1"/>
            <a:r>
              <a:rPr lang="da-DK" dirty="0"/>
              <a:t>Konfigurér derefter en mere specifik statisk route til:</a:t>
            </a:r>
          </a:p>
          <a:p>
            <a:pPr lvl="1"/>
            <a:r>
              <a:rPr lang="da-DK" dirty="0"/>
              <a:t>&lt;LAN-D-PREFIX&gt; </a:t>
            </a:r>
          </a:p>
          <a:p>
            <a:pPr lvl="1"/>
            <a:r>
              <a:rPr lang="da-DK" dirty="0"/>
              <a:t>via R3.</a:t>
            </a:r>
          </a:p>
          <a:p>
            <a:pPr marL="0" indent="0">
              <a:buNone/>
            </a:pPr>
            <a:r>
              <a:rPr lang="da-DK" dirty="0"/>
              <a:t>Eksempel:</a:t>
            </a:r>
          </a:p>
          <a:p>
            <a:pPr lvl="1"/>
            <a:r>
              <a:rPr lang="da-DK" dirty="0"/>
              <a:t>Et /16 via R2.</a:t>
            </a:r>
          </a:p>
          <a:p>
            <a:pPr lvl="1"/>
            <a:r>
              <a:rPr lang="da-DK" dirty="0"/>
              <a:t>Et /24 inde i dette /16 via R3.</a:t>
            </a:r>
          </a:p>
          <a:p>
            <a:pPr lvl="1"/>
            <a:r>
              <a:rPr lang="da-DK" dirty="0"/>
              <a:t>Brug jeres egne adresser.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12190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658E9-0E67-8976-8176-5F2DCB83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Hvilken route bruges?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0A7E549-A875-8BA5-84C9-CC46AA36B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a-DK" dirty="0"/>
              <a:t>Vælg en destination i LAN-D. - ---Ping ikke endnu !!!! </a:t>
            </a:r>
          </a:p>
          <a:p>
            <a:pPr marL="0" indent="0">
              <a:buNone/>
            </a:pPr>
            <a:r>
              <a:rPr lang="da-DK" dirty="0"/>
              <a:t>Besvar:</a:t>
            </a:r>
          </a:p>
          <a:p>
            <a:pPr lvl="1"/>
            <a:r>
              <a:rPr lang="da-DK" dirty="0"/>
              <a:t>Matcher &lt;STØRRE-PREFIX&gt; destinationen? </a:t>
            </a:r>
          </a:p>
          <a:p>
            <a:pPr lvl="1"/>
            <a:r>
              <a:rPr lang="da-DK" dirty="0"/>
              <a:t>Matcher &lt;LAN-D-PREFIX&gt; destinationen? </a:t>
            </a:r>
          </a:p>
          <a:p>
            <a:pPr lvl="1"/>
            <a:r>
              <a:rPr lang="da-DK" dirty="0"/>
              <a:t>Hvor mange routes matcher? </a:t>
            </a:r>
          </a:p>
          <a:p>
            <a:pPr lvl="1"/>
            <a:r>
              <a:rPr lang="da-DK" dirty="0"/>
              <a:t>Hvilken forventer I bliver brugt? </a:t>
            </a:r>
          </a:p>
          <a:p>
            <a:pPr lvl="1"/>
            <a:r>
              <a:rPr lang="da-DK" dirty="0"/>
              <a:t>Hvorfor? </a:t>
            </a:r>
          </a:p>
          <a:p>
            <a:pPr lvl="1"/>
            <a:r>
              <a:rPr lang="da-DK" dirty="0"/>
              <a:t>Hvilket </a:t>
            </a:r>
            <a:r>
              <a:rPr lang="da-DK" dirty="0" err="1"/>
              <a:t>next</a:t>
            </a:r>
            <a:r>
              <a:rPr lang="da-DK" dirty="0"/>
              <a:t> hop forventer I? </a:t>
            </a:r>
          </a:p>
          <a:p>
            <a:pPr lvl="1"/>
            <a:r>
              <a:rPr lang="da-DK" dirty="0"/>
              <a:t>Hvilket interface forventer I, pakken forlader?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Kontrollér:</a:t>
            </a:r>
          </a:p>
          <a:p>
            <a:pPr lvl="1"/>
            <a:r>
              <a:rPr lang="da-DK" dirty="0"/>
              <a:t>show ip route &lt;DESTINATION-IP&gt;</a:t>
            </a:r>
          </a:p>
          <a:p>
            <a:pPr lvl="1"/>
            <a:r>
              <a:rPr lang="da-DK" dirty="0"/>
              <a:t>show ip </a:t>
            </a:r>
            <a:r>
              <a:rPr lang="da-DK" dirty="0" err="1"/>
              <a:t>cef</a:t>
            </a:r>
            <a:r>
              <a:rPr lang="da-DK" dirty="0"/>
              <a:t> &lt;DESTINATION-IP&gt;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Test derefter.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39416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596EA5-9D6A-6931-E10D-F7FDA280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Longest</a:t>
            </a:r>
            <a:r>
              <a:rPr lang="da-DK" dirty="0"/>
              <a:t> </a:t>
            </a:r>
            <a:r>
              <a:rPr lang="da-DK" dirty="0" err="1"/>
              <a:t>Prefix</a:t>
            </a:r>
            <a:r>
              <a:rPr lang="da-DK" dirty="0"/>
              <a:t> Match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C506721-3B5C-88B0-7D4F-EE52D519A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/>
              <a:t>I har nu observeret, at flere routes kan matche samme destinationsadresse.</a:t>
            </a:r>
          </a:p>
          <a:p>
            <a:pPr marL="0" indent="0">
              <a:buNone/>
            </a:pPr>
            <a:r>
              <a:rPr lang="da-DK" dirty="0"/>
              <a:t>Diskutér:</a:t>
            </a:r>
          </a:p>
          <a:p>
            <a:pPr lvl="1"/>
            <a:r>
              <a:rPr lang="da-DK" dirty="0"/>
              <a:t>Hvorfor blev den ene valgt? </a:t>
            </a:r>
          </a:p>
          <a:p>
            <a:pPr lvl="1"/>
            <a:r>
              <a:rPr lang="da-DK" dirty="0"/>
              <a:t>Hvad betyder </a:t>
            </a:r>
            <a:r>
              <a:rPr lang="da-DK" dirty="0" err="1"/>
              <a:t>prefix</a:t>
            </a:r>
            <a:r>
              <a:rPr lang="da-DK" dirty="0"/>
              <a:t>-længden? </a:t>
            </a:r>
          </a:p>
          <a:p>
            <a:pPr lvl="1"/>
            <a:r>
              <a:rPr lang="da-DK" dirty="0"/>
              <a:t>Hvad sker der med en destination, som kun matcher det større </a:t>
            </a:r>
            <a:r>
              <a:rPr lang="da-DK" dirty="0" err="1"/>
              <a:t>prefix</a:t>
            </a:r>
            <a:r>
              <a:rPr lang="da-DK" dirty="0"/>
              <a:t>? </a:t>
            </a:r>
          </a:p>
          <a:p>
            <a:pPr lvl="1"/>
            <a:r>
              <a:rPr lang="da-DK" dirty="0"/>
              <a:t>Hvad sker der med en destination, som matcher begge?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Begrebet er: </a:t>
            </a:r>
            <a:r>
              <a:rPr lang="da-DK" dirty="0" err="1"/>
              <a:t>Longest</a:t>
            </a:r>
            <a:r>
              <a:rPr lang="da-DK" dirty="0"/>
              <a:t> </a:t>
            </a:r>
            <a:r>
              <a:rPr lang="da-DK" dirty="0" err="1"/>
              <a:t>Prefix</a:t>
            </a:r>
            <a:r>
              <a:rPr lang="da-DK" dirty="0"/>
              <a:t> Match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37839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A03535-C4DA-7B63-511B-40CB73522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Introducér OSPF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867FB0-E2B6-C428-5C89-A8F691282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a-DK" dirty="0"/>
              <a:t>Konfigurér OSPF mellem routerne.</a:t>
            </a:r>
          </a:p>
          <a:p>
            <a:pPr marL="0" indent="0">
              <a:buNone/>
            </a:pPr>
            <a:r>
              <a:rPr lang="da-DK" dirty="0"/>
              <a:t>Annoncér de relevante netværk.</a:t>
            </a:r>
          </a:p>
          <a:p>
            <a:pPr marL="0" indent="0">
              <a:buNone/>
            </a:pPr>
            <a:r>
              <a:rPr lang="da-DK" dirty="0"/>
              <a:t>Formålet er ikke at genlære OSPF-konfiguration.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Undersøg i stedet:</a:t>
            </a:r>
          </a:p>
          <a:p>
            <a:pPr lvl="1"/>
            <a:r>
              <a:rPr lang="da-DK" dirty="0"/>
              <a:t>Hvilke routes bliver lært? </a:t>
            </a:r>
          </a:p>
          <a:p>
            <a:pPr lvl="1"/>
            <a:r>
              <a:rPr lang="da-DK" dirty="0"/>
              <a:t>Hvor kommer informationen fra? </a:t>
            </a:r>
          </a:p>
          <a:p>
            <a:pPr lvl="1"/>
            <a:r>
              <a:rPr lang="da-DK" dirty="0"/>
              <a:t>Hvad ændrer sig i RIB? </a:t>
            </a:r>
          </a:p>
          <a:p>
            <a:pPr lvl="1"/>
            <a:r>
              <a:rPr lang="da-DK" dirty="0"/>
              <a:t>Hvad ændrer sig i FIB? </a:t>
            </a:r>
          </a:p>
          <a:p>
            <a:pPr lvl="1"/>
            <a:r>
              <a:rPr lang="da-DK" dirty="0"/>
              <a:t>Hvordan genkender I en OSPF-route?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Diskutér:</a:t>
            </a:r>
          </a:p>
          <a:p>
            <a:pPr lvl="1"/>
            <a:r>
              <a:rPr lang="da-DK" dirty="0"/>
              <a:t>Ved selve </a:t>
            </a:r>
            <a:r>
              <a:rPr lang="da-DK" dirty="0" err="1"/>
              <a:t>forwarding</a:t>
            </a:r>
            <a:r>
              <a:rPr lang="da-DK" dirty="0"/>
              <a:t>-processen – ved IP-pakken, om </a:t>
            </a:r>
            <a:r>
              <a:rPr lang="da-DK" dirty="0" err="1"/>
              <a:t>routen</a:t>
            </a:r>
            <a:r>
              <a:rPr lang="da-DK" dirty="0"/>
              <a:t> oprindeligt kom fra </a:t>
            </a:r>
            <a:r>
              <a:rPr lang="da-DK" dirty="0" err="1"/>
              <a:t>static</a:t>
            </a:r>
            <a:r>
              <a:rPr lang="da-DK" dirty="0"/>
              <a:t> eller OSPF?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71743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7EAC94-8CDC-EB24-2190-DC921526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Samme </a:t>
            </a:r>
            <a:r>
              <a:rPr lang="da-DK" dirty="0" err="1"/>
              <a:t>prefix</a:t>
            </a:r>
            <a:r>
              <a:rPr lang="da-DK" dirty="0"/>
              <a:t> fra forskellige kilder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CF11DFA-F7FD-D20E-5E91-8BC3DA4D2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a-DK" dirty="0"/>
              <a:t>Lad R1 lære: &lt;LAN-D-PREFIX&gt;  via OSPF.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Konfigurér derefter en statisk route til præcis samme </a:t>
            </a:r>
            <a:r>
              <a:rPr lang="da-DK" dirty="0" err="1"/>
              <a:t>prefix</a:t>
            </a:r>
            <a:r>
              <a:rPr lang="da-DK" dirty="0"/>
              <a:t> via den alternative vej.</a:t>
            </a:r>
          </a:p>
          <a:p>
            <a:pPr marL="0" indent="0">
              <a:buNone/>
            </a:pPr>
            <a:r>
              <a:rPr lang="da-DK" dirty="0"/>
              <a:t>Ping ikke endnu STOP !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Besvar:</a:t>
            </a:r>
          </a:p>
          <a:p>
            <a:pPr lvl="1"/>
            <a:r>
              <a:rPr lang="da-DK" dirty="0"/>
              <a:t>Hvilken route forventer I i routingtabellen? </a:t>
            </a:r>
          </a:p>
          <a:p>
            <a:pPr lvl="1"/>
            <a:r>
              <a:rPr lang="da-DK" dirty="0"/>
              <a:t>Hvilken vej forventer I bliver brugt? </a:t>
            </a:r>
          </a:p>
          <a:p>
            <a:pPr lvl="1"/>
            <a:r>
              <a:rPr lang="da-DK" dirty="0"/>
              <a:t>Er </a:t>
            </a:r>
            <a:r>
              <a:rPr lang="da-DK" dirty="0" err="1"/>
              <a:t>Longest</a:t>
            </a:r>
            <a:r>
              <a:rPr lang="da-DK" dirty="0"/>
              <a:t> </a:t>
            </a:r>
            <a:r>
              <a:rPr lang="da-DK" dirty="0" err="1"/>
              <a:t>Prefix</a:t>
            </a:r>
            <a:r>
              <a:rPr lang="da-DK" dirty="0"/>
              <a:t> Match nok til at afgøre valget? </a:t>
            </a:r>
          </a:p>
          <a:p>
            <a:pPr lvl="1"/>
            <a:r>
              <a:rPr lang="da-DK" dirty="0"/>
              <a:t>Hvorfor/hvorfor ikke?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Kontrollér nu.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94756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00E44-49D0-C6C3-632D-77F5252BA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Administrative Distance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C0DF2D4-4411-E04B-C51F-97073C052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a-DK" dirty="0"/>
              <a:t>Administrative Distance bruges til at vælge mellem routingkilder, når relevante routes til samme </a:t>
            </a:r>
            <a:r>
              <a:rPr lang="da-DK" dirty="0" err="1"/>
              <a:t>prefix</a:t>
            </a:r>
            <a:r>
              <a:rPr lang="da-DK" dirty="0"/>
              <a:t> konkurrerer om installation i RIB.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Typiske Cisco-værdier:</a:t>
            </a:r>
          </a:p>
          <a:p>
            <a:pPr lvl="1"/>
            <a:r>
              <a:rPr lang="da-DK" dirty="0" err="1"/>
              <a:t>Connected</a:t>
            </a:r>
            <a:r>
              <a:rPr lang="da-DK" dirty="0"/>
              <a:t>: 0</a:t>
            </a:r>
          </a:p>
          <a:p>
            <a:pPr lvl="1"/>
            <a:r>
              <a:rPr lang="da-DK" dirty="0" err="1"/>
              <a:t>Static</a:t>
            </a:r>
            <a:r>
              <a:rPr lang="da-DK" dirty="0"/>
              <a:t>: 1</a:t>
            </a:r>
          </a:p>
          <a:p>
            <a:pPr lvl="1"/>
            <a:r>
              <a:rPr lang="da-DK" dirty="0" err="1"/>
              <a:t>eBGP</a:t>
            </a:r>
            <a:r>
              <a:rPr lang="da-DK" dirty="0"/>
              <a:t>: 20</a:t>
            </a:r>
          </a:p>
          <a:p>
            <a:pPr lvl="1"/>
            <a:r>
              <a:rPr lang="da-DK" dirty="0"/>
              <a:t>OSPF: 110</a:t>
            </a:r>
          </a:p>
          <a:p>
            <a:pPr lvl="1"/>
            <a:r>
              <a:rPr lang="da-DK" dirty="0"/>
              <a:t>RIP: 120</a:t>
            </a:r>
          </a:p>
          <a:p>
            <a:pPr marL="0" indent="0">
              <a:buNone/>
            </a:pPr>
            <a:r>
              <a:rPr lang="da-DK" dirty="0"/>
              <a:t>Lavere AD foretrækkes.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Diskutér: Hvorfor kan en statisk route vinde over en OSPF-route, selv hvis OSPF-vejen fysisk ser bedre ud?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69592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644E0-EE68-80D9-302E-09D7B7C5C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Longest</a:t>
            </a:r>
            <a:r>
              <a:rPr lang="da-DK" dirty="0"/>
              <a:t> </a:t>
            </a:r>
            <a:r>
              <a:rPr lang="da-DK" dirty="0" err="1"/>
              <a:t>Prefix</a:t>
            </a:r>
            <a:r>
              <a:rPr lang="da-DK" dirty="0"/>
              <a:t> Match eller AD?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41A758D-3CDB-A1B4-AB1E-F37EC3080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a-DK" dirty="0"/>
              <a:t>Konfigurér:</a:t>
            </a:r>
          </a:p>
          <a:p>
            <a:pPr lvl="1"/>
            <a:r>
              <a:rPr lang="da-DK" dirty="0"/>
              <a:t>Et mindre specifikt </a:t>
            </a:r>
            <a:r>
              <a:rPr lang="da-DK" dirty="0" err="1"/>
              <a:t>prefix</a:t>
            </a:r>
            <a:r>
              <a:rPr lang="da-DK" dirty="0"/>
              <a:t> via </a:t>
            </a:r>
            <a:r>
              <a:rPr lang="da-DK" dirty="0" err="1"/>
              <a:t>static</a:t>
            </a:r>
            <a:r>
              <a:rPr lang="da-DK" dirty="0"/>
              <a:t>.</a:t>
            </a:r>
          </a:p>
          <a:p>
            <a:pPr lvl="1"/>
            <a:r>
              <a:rPr lang="da-DK" dirty="0"/>
              <a:t>Et mere specifikt </a:t>
            </a:r>
            <a:r>
              <a:rPr lang="da-DK" dirty="0" err="1"/>
              <a:t>prefix</a:t>
            </a:r>
            <a:r>
              <a:rPr lang="da-DK" dirty="0"/>
              <a:t> via OSPF.</a:t>
            </a:r>
          </a:p>
          <a:p>
            <a:pPr lvl="1"/>
            <a:r>
              <a:rPr lang="da-DK" dirty="0"/>
              <a:t>Vælg en destination, der matcher begge.</a:t>
            </a:r>
          </a:p>
          <a:p>
            <a:pPr marL="0" indent="0">
              <a:buNone/>
            </a:pPr>
            <a:r>
              <a:rPr lang="da-DK" dirty="0"/>
              <a:t>Forudsig:</a:t>
            </a:r>
          </a:p>
          <a:p>
            <a:pPr lvl="1"/>
            <a:r>
              <a:rPr lang="da-DK" dirty="0"/>
              <a:t>Hvilken route bruges? </a:t>
            </a:r>
          </a:p>
          <a:p>
            <a:pPr lvl="1"/>
            <a:r>
              <a:rPr lang="da-DK" dirty="0"/>
              <a:t>Er det AD eller </a:t>
            </a:r>
            <a:r>
              <a:rPr lang="da-DK" dirty="0" err="1"/>
              <a:t>prefix</a:t>
            </a:r>
            <a:r>
              <a:rPr lang="da-DK" dirty="0"/>
              <a:t>-længden, der er afgørende? </a:t>
            </a:r>
          </a:p>
          <a:p>
            <a:pPr lvl="1"/>
            <a:r>
              <a:rPr lang="da-DK" dirty="0"/>
              <a:t>Hvilket </a:t>
            </a:r>
            <a:r>
              <a:rPr lang="da-DK" dirty="0" err="1"/>
              <a:t>next</a:t>
            </a:r>
            <a:r>
              <a:rPr lang="da-DK" dirty="0"/>
              <a:t> hop bliver brugt?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Kontrollér med:</a:t>
            </a:r>
          </a:p>
          <a:p>
            <a:r>
              <a:rPr lang="da-DK" dirty="0"/>
              <a:t>show ip route &lt;DESTINATION-IP&gt;</a:t>
            </a:r>
          </a:p>
          <a:p>
            <a:r>
              <a:rPr lang="da-DK" dirty="0"/>
              <a:t>show ip </a:t>
            </a:r>
            <a:r>
              <a:rPr lang="da-DK" dirty="0" err="1"/>
              <a:t>cef</a:t>
            </a:r>
            <a:r>
              <a:rPr lang="da-DK" dirty="0"/>
              <a:t> &lt;DESTINATION-IP&gt;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41556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646165-C2B5-6D27-98DD-5C11B8B2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Floating</a:t>
            </a:r>
            <a:r>
              <a:rPr lang="da-DK" dirty="0"/>
              <a:t> </a:t>
            </a:r>
            <a:r>
              <a:rPr lang="da-DK" dirty="0" err="1"/>
              <a:t>Static</a:t>
            </a:r>
            <a:r>
              <a:rPr lang="da-DK" dirty="0"/>
              <a:t> Route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8E3C75A-613C-137D-29E7-7FF2EC3B6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a-DK" dirty="0"/>
              <a:t>Lad &lt;LAN-D-PREFIX&gt; blive lært via OSPF.</a:t>
            </a:r>
          </a:p>
          <a:p>
            <a:pPr marL="0" indent="0">
              <a:buNone/>
            </a:pPr>
            <a:r>
              <a:rPr lang="da-DK" dirty="0"/>
              <a:t>Konfigurér samtidig en statisk route til samme </a:t>
            </a:r>
            <a:r>
              <a:rPr lang="da-DK" dirty="0" err="1"/>
              <a:t>prefix</a:t>
            </a:r>
            <a:r>
              <a:rPr lang="da-DK" dirty="0"/>
              <a:t> via en alternativ vej.</a:t>
            </a:r>
          </a:p>
          <a:p>
            <a:pPr marL="0" indent="0">
              <a:buNone/>
            </a:pPr>
            <a:r>
              <a:rPr lang="da-DK" dirty="0"/>
              <a:t>Ændr den statiske routes AD, så den er højere end OSPF.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Eksempel: ip route &lt;LAN-D-PREFIX&gt; &lt;SUBNETMASKE&gt; &lt;ALTERNATIV-NEXT-HOP&gt; 200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Inden I tester:</a:t>
            </a:r>
          </a:p>
          <a:p>
            <a:pPr lvl="1"/>
            <a:r>
              <a:rPr lang="da-DK" dirty="0"/>
              <a:t>Hvilken route forventer I bliver installeret? </a:t>
            </a:r>
          </a:p>
          <a:p>
            <a:pPr lvl="1"/>
            <a:r>
              <a:rPr lang="da-DK" dirty="0"/>
              <a:t>Hvad sker der med den statiske route? </a:t>
            </a:r>
          </a:p>
          <a:p>
            <a:pPr lvl="1"/>
            <a:r>
              <a:rPr lang="da-DK" dirty="0"/>
              <a:t>Hvornår kan den blive relevant?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17873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E5239D-9AEA-7587-C889-2A5F10DC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Lav en fejl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E8576F2-4E05-2D1B-E909-EAAA38D04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a-DK" dirty="0"/>
              <a:t>Kontrollér først den aktive vej til: &lt;PC-D-IP&gt; </a:t>
            </a:r>
          </a:p>
          <a:p>
            <a:pPr marL="0" indent="0">
              <a:buNone/>
            </a:pPr>
            <a:r>
              <a:rPr lang="da-DK" dirty="0"/>
              <a:t>Brug:</a:t>
            </a:r>
          </a:p>
          <a:p>
            <a:pPr lvl="1"/>
            <a:r>
              <a:rPr lang="da-DK" dirty="0"/>
              <a:t>show ip route &lt;PC-D-IP&gt;</a:t>
            </a:r>
          </a:p>
          <a:p>
            <a:pPr lvl="1"/>
            <a:r>
              <a:rPr lang="da-DK" dirty="0"/>
              <a:t>show ip </a:t>
            </a:r>
            <a:r>
              <a:rPr lang="da-DK" dirty="0" err="1"/>
              <a:t>cef</a:t>
            </a:r>
            <a:r>
              <a:rPr lang="da-DK" dirty="0"/>
              <a:t> &lt;PC-D-IP&gt;</a:t>
            </a:r>
          </a:p>
          <a:p>
            <a:pPr lvl="1"/>
            <a:r>
              <a:rPr lang="da-DK" dirty="0"/>
              <a:t>traceroute &lt;PC-D-IP&gt;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Afbryd derefter et link på den aktive vej.</a:t>
            </a:r>
          </a:p>
          <a:p>
            <a:pPr marL="0" indent="0">
              <a:buNone/>
            </a:pPr>
            <a:r>
              <a:rPr lang="da-DK" dirty="0"/>
              <a:t>Forudsig resultatet, inden I tester.</a:t>
            </a:r>
          </a:p>
          <a:p>
            <a:pPr marL="0" indent="0">
              <a:buNone/>
            </a:pPr>
            <a:r>
              <a:rPr lang="da-DK" dirty="0"/>
              <a:t>Undersøg:</a:t>
            </a:r>
          </a:p>
          <a:p>
            <a:pPr lvl="1"/>
            <a:r>
              <a:rPr lang="da-DK" dirty="0"/>
              <a:t>Hvad ændrede sig i RIB? </a:t>
            </a:r>
          </a:p>
          <a:p>
            <a:pPr lvl="1"/>
            <a:r>
              <a:rPr lang="da-DK" dirty="0"/>
              <a:t>Hvad ændrede sig i FIB? </a:t>
            </a:r>
          </a:p>
          <a:p>
            <a:pPr lvl="1"/>
            <a:r>
              <a:rPr lang="da-DK" dirty="0"/>
              <a:t>Hvilken route bruges nu? </a:t>
            </a:r>
          </a:p>
          <a:p>
            <a:pPr lvl="1"/>
            <a:r>
              <a:rPr lang="da-DK" dirty="0"/>
              <a:t>Hvilken vej tager trafikken? </a:t>
            </a:r>
          </a:p>
          <a:p>
            <a:pPr lvl="1"/>
            <a:r>
              <a:rPr lang="da-DK" dirty="0"/>
              <a:t>Hvorfor?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88083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77FDC0-979B-F8C5-084D-EB9CA9518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er et </a:t>
            </a:r>
            <a:r>
              <a:rPr lang="da-DK" dirty="0" err="1"/>
              <a:t>next</a:t>
            </a:r>
            <a:r>
              <a:rPr lang="da-DK" dirty="0"/>
              <a:t> hop?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35082E7-B554-F235-8739-4AB9FD99A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En statisk route kan se sådan ud: ip route &lt;DESTINATION-PREFIX&gt; &lt;SUBNETMASKE&gt; &lt;NEXT-HOP&gt;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Men hvad betyder &lt;NEXT-HOP&gt; egentlig?</a:t>
            </a:r>
          </a:p>
          <a:p>
            <a:pPr marL="0" indent="0">
              <a:buNone/>
            </a:pPr>
            <a:r>
              <a:rPr lang="da-DK" dirty="0"/>
              <a:t>Diskutér:</a:t>
            </a:r>
          </a:p>
          <a:p>
            <a:pPr lvl="1"/>
            <a:r>
              <a:rPr lang="da-DK" dirty="0"/>
              <a:t>Er det nok, at </a:t>
            </a:r>
            <a:r>
              <a:rPr lang="da-DK" dirty="0" err="1"/>
              <a:t>next</a:t>
            </a:r>
            <a:r>
              <a:rPr lang="da-DK" dirty="0"/>
              <a:t>-hop-adressen står i konfigurationen? </a:t>
            </a:r>
          </a:p>
          <a:p>
            <a:pPr lvl="1"/>
            <a:r>
              <a:rPr lang="da-DK" dirty="0"/>
              <a:t>Skal routeren selv kunne nå </a:t>
            </a:r>
            <a:r>
              <a:rPr lang="da-DK" dirty="0" err="1"/>
              <a:t>next</a:t>
            </a:r>
            <a:r>
              <a:rPr lang="da-DK" dirty="0"/>
              <a:t> hop? </a:t>
            </a:r>
          </a:p>
          <a:p>
            <a:pPr lvl="1"/>
            <a:r>
              <a:rPr lang="da-DK" dirty="0"/>
              <a:t>Hvordan finder routeren ud af, hvilket interface der skal bruges?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734791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01CC5-9870-B442-448F-BC75A2F6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Next</a:t>
            </a:r>
            <a:r>
              <a:rPr lang="da-DK" dirty="0"/>
              <a:t>-hop resolution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70EBC4E-235F-97A6-D674-7B0B0C108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a-DK" dirty="0"/>
              <a:t>Vælg en af jeres statiske routes.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Notér:</a:t>
            </a:r>
          </a:p>
          <a:p>
            <a:pPr lvl="1"/>
            <a:r>
              <a:rPr lang="da-DK" dirty="0"/>
              <a:t>Destination: &lt;DESTINATION-PREFIX&gt;</a:t>
            </a:r>
          </a:p>
          <a:p>
            <a:pPr lvl="1"/>
            <a:r>
              <a:rPr lang="da-DK" dirty="0" err="1"/>
              <a:t>Next</a:t>
            </a:r>
            <a:r>
              <a:rPr lang="da-DK" dirty="0"/>
              <a:t> hop: &lt;NEXT-HOP&gt;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Undersøg derefter </a:t>
            </a:r>
            <a:r>
              <a:rPr lang="da-DK" dirty="0" err="1"/>
              <a:t>routen</a:t>
            </a:r>
            <a:r>
              <a:rPr lang="da-DK" dirty="0"/>
              <a:t> til selve: &lt;NEXT-HOP&gt;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Besvar:</a:t>
            </a:r>
          </a:p>
          <a:p>
            <a:pPr lvl="1"/>
            <a:r>
              <a:rPr lang="da-DK" dirty="0"/>
              <a:t>Hvordan når routeren </a:t>
            </a:r>
            <a:r>
              <a:rPr lang="da-DK" dirty="0" err="1"/>
              <a:t>next</a:t>
            </a:r>
            <a:r>
              <a:rPr lang="da-DK" dirty="0"/>
              <a:t> hop? </a:t>
            </a:r>
          </a:p>
          <a:p>
            <a:pPr lvl="1"/>
            <a:r>
              <a:rPr lang="da-DK" dirty="0"/>
              <a:t>Hvilket interface skal bruges? </a:t>
            </a:r>
          </a:p>
          <a:p>
            <a:pPr lvl="1"/>
            <a:r>
              <a:rPr lang="da-DK" dirty="0"/>
              <a:t>Hvor kommer denne information fra? </a:t>
            </a:r>
          </a:p>
          <a:p>
            <a:pPr lvl="1"/>
            <a:r>
              <a:rPr lang="da-DK" dirty="0"/>
              <a:t>Hvad sker der, hvis </a:t>
            </a:r>
            <a:r>
              <a:rPr lang="da-DK" dirty="0" err="1"/>
              <a:t>next</a:t>
            </a:r>
            <a:r>
              <a:rPr lang="da-DK" dirty="0"/>
              <a:t> hop ikke kan </a:t>
            </a:r>
            <a:r>
              <a:rPr lang="da-DK" dirty="0" err="1"/>
              <a:t>resolves</a:t>
            </a:r>
            <a:r>
              <a:rPr lang="da-DK" dirty="0"/>
              <a:t>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83072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18461-B558-E6AC-CF97-847F66CB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Recursive</a:t>
            </a:r>
            <a:r>
              <a:rPr lang="da-DK" dirty="0"/>
              <a:t> </a:t>
            </a:r>
            <a:r>
              <a:rPr lang="da-DK" dirty="0" err="1"/>
              <a:t>lookup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D097B46-B7B1-4CDC-F6D8-FF516768C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da-DK" dirty="0"/>
              <a:t>Konfigurér en route, hvor &lt;NEXT-HOP&gt; ikke befinder sig på et direkte </a:t>
            </a:r>
            <a:r>
              <a:rPr lang="da-DK" dirty="0" err="1"/>
              <a:t>connected</a:t>
            </a:r>
            <a:r>
              <a:rPr lang="da-DK" dirty="0"/>
              <a:t> netværk.</a:t>
            </a:r>
          </a:p>
          <a:p>
            <a:pPr marL="0" indent="0">
              <a:buNone/>
            </a:pPr>
            <a:r>
              <a:rPr lang="da-DK" dirty="0"/>
              <a:t>Undersøg:</a:t>
            </a:r>
          </a:p>
          <a:p>
            <a:pPr lvl="1"/>
            <a:r>
              <a:rPr lang="da-DK" dirty="0"/>
              <a:t>show ip route &lt;DESTINATION&gt;</a:t>
            </a:r>
          </a:p>
          <a:p>
            <a:pPr lvl="1"/>
            <a:r>
              <a:rPr lang="da-DK" dirty="0"/>
              <a:t>show ip route &lt;NEXT-HOP&gt;</a:t>
            </a:r>
          </a:p>
          <a:p>
            <a:pPr lvl="1"/>
            <a:r>
              <a:rPr lang="da-DK" dirty="0"/>
              <a:t>show ip </a:t>
            </a:r>
            <a:r>
              <a:rPr lang="da-DK" dirty="0" err="1"/>
              <a:t>cef</a:t>
            </a:r>
            <a:r>
              <a:rPr lang="da-DK" dirty="0"/>
              <a:t> &lt;DESTINATION&gt;</a:t>
            </a:r>
          </a:p>
          <a:p>
            <a:pPr marL="0" indent="0">
              <a:buNone/>
            </a:pPr>
            <a:r>
              <a:rPr lang="da-DK" dirty="0"/>
              <a:t>Forklar processen:</a:t>
            </a:r>
          </a:p>
          <a:p>
            <a:pPr marL="0" indent="0">
              <a:buNone/>
            </a:pPr>
            <a:r>
              <a:rPr lang="da-DK" dirty="0"/>
              <a:t>Destination</a:t>
            </a:r>
          </a:p>
          <a:p>
            <a:pPr marL="0" indent="0">
              <a:buNone/>
            </a:pPr>
            <a:r>
              <a:rPr lang="da-DK" dirty="0"/>
              <a:t>↓</a:t>
            </a:r>
          </a:p>
          <a:p>
            <a:pPr marL="0" indent="0">
              <a:buNone/>
            </a:pPr>
            <a:r>
              <a:rPr lang="da-DK" dirty="0"/>
              <a:t>Route til destination</a:t>
            </a:r>
          </a:p>
          <a:p>
            <a:pPr marL="0" indent="0">
              <a:buNone/>
            </a:pPr>
            <a:r>
              <a:rPr lang="da-DK" dirty="0"/>
              <a:t>↓</a:t>
            </a:r>
          </a:p>
          <a:p>
            <a:pPr marL="0" indent="0">
              <a:buNone/>
            </a:pPr>
            <a:r>
              <a:rPr lang="da-DK" dirty="0" err="1"/>
              <a:t>Next</a:t>
            </a:r>
            <a:r>
              <a:rPr lang="da-DK" dirty="0"/>
              <a:t> hop</a:t>
            </a:r>
          </a:p>
          <a:p>
            <a:pPr marL="0" indent="0">
              <a:buNone/>
            </a:pPr>
            <a:r>
              <a:rPr lang="da-DK" dirty="0"/>
              <a:t>↓</a:t>
            </a:r>
          </a:p>
          <a:p>
            <a:pPr marL="0" indent="0">
              <a:buNone/>
            </a:pPr>
            <a:r>
              <a:rPr lang="da-DK" dirty="0"/>
              <a:t>Route til </a:t>
            </a:r>
            <a:r>
              <a:rPr lang="da-DK" dirty="0" err="1"/>
              <a:t>next</a:t>
            </a:r>
            <a:r>
              <a:rPr lang="da-DK" dirty="0"/>
              <a:t> hop</a:t>
            </a:r>
          </a:p>
          <a:p>
            <a:pPr marL="0" indent="0">
              <a:buNone/>
            </a:pPr>
            <a:r>
              <a:rPr lang="da-DK" dirty="0"/>
              <a:t>↓</a:t>
            </a:r>
          </a:p>
          <a:p>
            <a:pPr marL="0" indent="0">
              <a:buNone/>
            </a:pPr>
            <a:r>
              <a:rPr lang="da-DK" dirty="0" err="1"/>
              <a:t>Egress</a:t>
            </a:r>
            <a:r>
              <a:rPr lang="da-DK" dirty="0"/>
              <a:t> interface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Hvorfor kaldes dette </a:t>
            </a:r>
            <a:r>
              <a:rPr lang="da-DK" dirty="0" err="1"/>
              <a:t>recursive</a:t>
            </a:r>
            <a:r>
              <a:rPr lang="da-DK" dirty="0"/>
              <a:t> </a:t>
            </a:r>
            <a:r>
              <a:rPr lang="da-DK" dirty="0" err="1"/>
              <a:t>lookup</a:t>
            </a:r>
            <a:r>
              <a:rPr lang="da-DK" dirty="0"/>
              <a:t>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945387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8816E-C951-C3E3-2DB1-458CF385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Vi har stadig et problem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8D7D432-4655-0E4B-4E93-D036325EC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a-DK" dirty="0"/>
              <a:t>Routeren har nu fundet:</a:t>
            </a:r>
          </a:p>
          <a:p>
            <a:pPr lvl="1"/>
            <a:r>
              <a:rPr lang="da-DK" dirty="0"/>
              <a:t>Destination </a:t>
            </a:r>
          </a:p>
          <a:p>
            <a:pPr lvl="1"/>
            <a:r>
              <a:rPr lang="da-DK" dirty="0"/>
              <a:t>Route </a:t>
            </a:r>
          </a:p>
          <a:p>
            <a:pPr lvl="1"/>
            <a:r>
              <a:rPr lang="da-DK" dirty="0" err="1"/>
              <a:t>Next</a:t>
            </a:r>
            <a:r>
              <a:rPr lang="da-DK" dirty="0"/>
              <a:t> hop </a:t>
            </a:r>
          </a:p>
          <a:p>
            <a:pPr lvl="1"/>
            <a:r>
              <a:rPr lang="da-DK" dirty="0" err="1"/>
              <a:t>Egress</a:t>
            </a:r>
            <a:r>
              <a:rPr lang="da-DK" dirty="0"/>
              <a:t> interface </a:t>
            </a:r>
          </a:p>
          <a:p>
            <a:pPr marL="0" indent="0">
              <a:buNone/>
            </a:pPr>
            <a:r>
              <a:rPr lang="da-DK" dirty="0"/>
              <a:t>Men interfacet skal faktisk sende en Ethernet-frame.</a:t>
            </a:r>
          </a:p>
          <a:p>
            <a:pPr marL="0" indent="0">
              <a:buNone/>
            </a:pPr>
            <a:r>
              <a:rPr lang="da-DK" dirty="0"/>
              <a:t>Hvilken destination MAC skal bruges?</a:t>
            </a:r>
          </a:p>
          <a:p>
            <a:pPr marL="0" indent="0">
              <a:buNone/>
            </a:pPr>
            <a:r>
              <a:rPr lang="da-DK" dirty="0"/>
              <a:t>Hvis IP-destinationen er:</a:t>
            </a:r>
          </a:p>
          <a:p>
            <a:pPr lvl="1"/>
            <a:r>
              <a:rPr lang="da-DK" dirty="0"/>
              <a:t>&lt;PC-D-IP&gt; </a:t>
            </a:r>
          </a:p>
          <a:p>
            <a:pPr lvl="1"/>
            <a:r>
              <a:rPr lang="da-DK" dirty="0"/>
              <a:t>og </a:t>
            </a:r>
            <a:r>
              <a:rPr lang="da-DK" dirty="0" err="1"/>
              <a:t>next</a:t>
            </a:r>
            <a:r>
              <a:rPr lang="da-DK" dirty="0"/>
              <a:t> hop er:</a:t>
            </a:r>
          </a:p>
          <a:p>
            <a:pPr lvl="1"/>
            <a:r>
              <a:rPr lang="da-DK" dirty="0"/>
              <a:t>&lt;NEXT-HOP-IP&gt; </a:t>
            </a:r>
          </a:p>
          <a:p>
            <a:pPr marL="0" indent="0">
              <a:buNone/>
            </a:pPr>
            <a:r>
              <a:rPr lang="da-DK" dirty="0"/>
              <a:t>Skal Ethernet-framen sendes til PC-D's MAC eller </a:t>
            </a:r>
            <a:r>
              <a:rPr lang="da-DK" dirty="0" err="1"/>
              <a:t>next</a:t>
            </a:r>
            <a:r>
              <a:rPr lang="da-DK" dirty="0"/>
              <a:t> hops MAC?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Forklar hvorfor.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90627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1B3776-8251-DA4E-1C05-2181E775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ARP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D17B82C-FCE6-51BA-FE0E-713A1A074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/>
              <a:t>Undersøg: show ip arp</a:t>
            </a:r>
          </a:p>
          <a:p>
            <a:pPr marL="0" indent="0">
              <a:buNone/>
            </a:pPr>
            <a:r>
              <a:rPr lang="da-DK" dirty="0"/>
              <a:t>Find MAC-adressen for: &lt;NEXT-HOP-IP&gt;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Diskutér:</a:t>
            </a:r>
          </a:p>
          <a:p>
            <a:pPr lvl="1"/>
            <a:r>
              <a:rPr lang="da-DK" dirty="0"/>
              <a:t>Hvad sker der, hvis ARP-</a:t>
            </a:r>
            <a:r>
              <a:rPr lang="da-DK" dirty="0" err="1"/>
              <a:t>entry</a:t>
            </a:r>
            <a:r>
              <a:rPr lang="da-DK" dirty="0"/>
              <a:t> allerede eksisterer? </a:t>
            </a:r>
          </a:p>
          <a:p>
            <a:pPr lvl="1"/>
            <a:r>
              <a:rPr lang="da-DK" dirty="0"/>
              <a:t>Hvad sker der, hvis den ikke eksisterer? </a:t>
            </a:r>
          </a:p>
          <a:p>
            <a:pPr lvl="1"/>
            <a:r>
              <a:rPr lang="da-DK" dirty="0"/>
              <a:t>Ændrer ARP IP-pakkens destination? </a:t>
            </a:r>
          </a:p>
          <a:p>
            <a:pPr lvl="1"/>
            <a:r>
              <a:rPr lang="da-DK" dirty="0"/>
              <a:t>Hvad bruges ARP egentlig til i </a:t>
            </a:r>
            <a:r>
              <a:rPr lang="da-DK" dirty="0" err="1"/>
              <a:t>forwarding</a:t>
            </a:r>
            <a:r>
              <a:rPr lang="da-DK" dirty="0"/>
              <a:t>-processen?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953829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F86FCE-44F7-FD08-F115-87975F5E8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Følg hele pakken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B70399F-1209-7F2E-CEF4-8AF09FC5C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a-DK" dirty="0"/>
              <a:t>Vælg trafik fra: PC-A → PC-D</a:t>
            </a:r>
          </a:p>
          <a:p>
            <a:pPr marL="0" indent="0">
              <a:buNone/>
            </a:pPr>
            <a:r>
              <a:rPr lang="da-DK" dirty="0"/>
              <a:t>For hvert hop dokumenteres:</a:t>
            </a:r>
          </a:p>
          <a:p>
            <a:pPr lvl="1"/>
            <a:r>
              <a:rPr lang="da-DK" dirty="0"/>
              <a:t>Source IP </a:t>
            </a:r>
          </a:p>
          <a:p>
            <a:pPr lvl="1"/>
            <a:r>
              <a:rPr lang="da-DK" dirty="0"/>
              <a:t>Destination IP </a:t>
            </a:r>
          </a:p>
          <a:p>
            <a:pPr lvl="1"/>
            <a:r>
              <a:rPr lang="da-DK" dirty="0"/>
              <a:t>Source MAC </a:t>
            </a:r>
          </a:p>
          <a:p>
            <a:pPr lvl="1"/>
            <a:r>
              <a:rPr lang="da-DK" dirty="0"/>
              <a:t>Destination MAC </a:t>
            </a:r>
          </a:p>
          <a:p>
            <a:pPr lvl="1"/>
            <a:r>
              <a:rPr lang="da-DK" dirty="0" err="1"/>
              <a:t>Next</a:t>
            </a:r>
            <a:r>
              <a:rPr lang="da-DK" dirty="0"/>
              <a:t> hop </a:t>
            </a:r>
          </a:p>
          <a:p>
            <a:pPr lvl="1"/>
            <a:r>
              <a:rPr lang="da-DK" dirty="0" err="1"/>
              <a:t>Egress</a:t>
            </a:r>
            <a:r>
              <a:rPr lang="da-DK" dirty="0"/>
              <a:t> interface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Diskutér:</a:t>
            </a:r>
          </a:p>
          <a:p>
            <a:pPr lvl="1"/>
            <a:r>
              <a:rPr lang="da-DK" dirty="0"/>
              <a:t>Hvilke værdier forbliver de samme gennem det routede netværk?</a:t>
            </a:r>
          </a:p>
          <a:p>
            <a:pPr lvl="1"/>
            <a:r>
              <a:rPr lang="da-DK" dirty="0"/>
              <a:t>Hvilke værdier ændres ved hvert hop?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85679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028B67-F6B1-8838-6038-99627DAE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SOURCE IP OG ROUTER-GENERERET TRAFIK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2EA769D-717B-17A8-210D-D1A0D1AA9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a-DK" dirty="0"/>
              <a:t>I vil gerne ping &lt;PC-D-IP&gt;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MEN før i gør det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Forudsig:</a:t>
            </a:r>
          </a:p>
          <a:p>
            <a:pPr lvl="1"/>
            <a:r>
              <a:rPr lang="da-DK" dirty="0"/>
              <a:t>Hvad bliver destination IP? </a:t>
            </a:r>
          </a:p>
          <a:p>
            <a:pPr lvl="1"/>
            <a:r>
              <a:rPr lang="da-DK" dirty="0"/>
              <a:t>Hvad bliver source IP? </a:t>
            </a:r>
          </a:p>
          <a:p>
            <a:pPr lvl="1"/>
            <a:r>
              <a:rPr lang="da-DK" dirty="0"/>
              <a:t>Hvor kommer pakken fra? </a:t>
            </a:r>
          </a:p>
          <a:p>
            <a:pPr lvl="1"/>
            <a:r>
              <a:rPr lang="da-DK" dirty="0"/>
              <a:t>Har pakken et </a:t>
            </a:r>
            <a:r>
              <a:rPr lang="da-DK" dirty="0" err="1"/>
              <a:t>ingress</a:t>
            </a:r>
            <a:r>
              <a:rPr lang="da-DK" dirty="0"/>
              <a:t>-interface? </a:t>
            </a:r>
          </a:p>
          <a:p>
            <a:pPr lvl="1"/>
            <a:r>
              <a:rPr lang="da-DK" dirty="0"/>
              <a:t>Hvordan vælger routeren </a:t>
            </a:r>
            <a:r>
              <a:rPr lang="da-DK" dirty="0" err="1"/>
              <a:t>egress</a:t>
            </a:r>
            <a:r>
              <a:rPr lang="da-DK" dirty="0"/>
              <a:t> interface? </a:t>
            </a:r>
          </a:p>
          <a:p>
            <a:pPr lvl="1"/>
            <a:r>
              <a:rPr lang="da-DK" dirty="0"/>
              <a:t>Hvordan vælger routeren source IP?</a:t>
            </a:r>
          </a:p>
          <a:p>
            <a:pPr lvl="1"/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62461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DC583E-24A4-27AD-9C02-CA6A4E343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Extended Ping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4F093C9-99A6-F818-6475-3A08988C1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a-DK" dirty="0"/>
              <a:t>Udfør nu ping til samme destination, men vælg selv en source-adresse eller et source-interface.</a:t>
            </a:r>
          </a:p>
          <a:p>
            <a:pPr marL="0" indent="0">
              <a:buNone/>
            </a:pPr>
            <a:r>
              <a:rPr lang="da-DK" dirty="0"/>
              <a:t>Brug forskellige interfaces på R1 som source.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Inden hver test,  forudsig resultatet.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Undersøg:</a:t>
            </a:r>
          </a:p>
          <a:p>
            <a:pPr lvl="1"/>
            <a:r>
              <a:rPr lang="da-DK" dirty="0"/>
              <a:t>Ændrede destinationen sig? </a:t>
            </a:r>
          </a:p>
          <a:p>
            <a:pPr lvl="1"/>
            <a:r>
              <a:rPr lang="da-DK" dirty="0"/>
              <a:t>Ændrede source IP sig? </a:t>
            </a:r>
          </a:p>
          <a:p>
            <a:pPr lvl="1"/>
            <a:r>
              <a:rPr lang="da-DK" dirty="0"/>
              <a:t>Ændrede forward </a:t>
            </a:r>
            <a:r>
              <a:rPr lang="da-DK" dirty="0" err="1"/>
              <a:t>path</a:t>
            </a:r>
            <a:r>
              <a:rPr lang="da-DK" dirty="0"/>
              <a:t> sig? </a:t>
            </a:r>
          </a:p>
          <a:p>
            <a:pPr lvl="1"/>
            <a:r>
              <a:rPr lang="da-DK" dirty="0"/>
              <a:t>Kan returvejen ændre resultatet? 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20206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4B6324-0D23-D6F0-E0E6-E8314E3AC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To lige gode veje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6661DEC-AF3B-CC8B-5120-D59BCF48A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a-DK" dirty="0"/>
              <a:t>Konfigurér topologien, så R1 lærer to lige gode routes til: &lt;LAN-D-PREFIX&gt;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For eksempel:</a:t>
            </a:r>
          </a:p>
          <a:p>
            <a:pPr lvl="1"/>
            <a:r>
              <a:rPr lang="da-DK" dirty="0"/>
              <a:t>R1 → R2 → R4</a:t>
            </a:r>
          </a:p>
          <a:p>
            <a:pPr lvl="1"/>
            <a:r>
              <a:rPr lang="da-DK" dirty="0"/>
              <a:t>R1 → R3 → R4</a:t>
            </a:r>
          </a:p>
          <a:p>
            <a:pPr marL="0" indent="0">
              <a:buNone/>
            </a:pPr>
            <a:r>
              <a:rPr lang="da-DK" dirty="0"/>
              <a:t>Routes skal have:</a:t>
            </a:r>
          </a:p>
          <a:p>
            <a:pPr lvl="1"/>
            <a:r>
              <a:rPr lang="da-DK" dirty="0"/>
              <a:t>Samme </a:t>
            </a:r>
            <a:r>
              <a:rPr lang="da-DK" dirty="0" err="1"/>
              <a:t>prefix</a:t>
            </a:r>
            <a:r>
              <a:rPr lang="da-DK" dirty="0"/>
              <a:t> </a:t>
            </a:r>
          </a:p>
          <a:p>
            <a:pPr lvl="1"/>
            <a:r>
              <a:rPr lang="da-DK" dirty="0"/>
              <a:t>Samme routingkilde </a:t>
            </a:r>
          </a:p>
          <a:p>
            <a:pPr lvl="1"/>
            <a:r>
              <a:rPr lang="da-DK" dirty="0"/>
              <a:t>Samme </a:t>
            </a:r>
            <a:r>
              <a:rPr lang="da-DK" dirty="0" err="1"/>
              <a:t>metric</a:t>
            </a:r>
            <a:r>
              <a:rPr lang="da-DK" dirty="0"/>
              <a:t>/</a:t>
            </a:r>
            <a:r>
              <a:rPr lang="da-DK" dirty="0" err="1"/>
              <a:t>cost</a:t>
            </a:r>
            <a:r>
              <a:rPr lang="da-DK" dirty="0"/>
              <a:t> </a:t>
            </a:r>
          </a:p>
          <a:p>
            <a:pPr marL="0" indent="0">
              <a:buNone/>
            </a:pPr>
            <a:r>
              <a:rPr lang="da-DK" dirty="0"/>
              <a:t>Forudsig: Hvad forventer I at se i RIB og FIB?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159334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355DA-52D8-A272-B88B-F92BA4ED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ECMP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AD50529-FFE7-5825-5556-CB75CF781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a-DK" dirty="0"/>
              <a:t>ECMP står for: </a:t>
            </a:r>
            <a:r>
              <a:rPr lang="da-DK" dirty="0" err="1"/>
              <a:t>Equal-Cost</a:t>
            </a:r>
            <a:r>
              <a:rPr lang="da-DK" dirty="0"/>
              <a:t> </a:t>
            </a:r>
            <a:r>
              <a:rPr lang="da-DK" dirty="0" err="1"/>
              <a:t>Multi</a:t>
            </a:r>
            <a:r>
              <a:rPr lang="da-DK" dirty="0"/>
              <a:t>-Path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Undersøg:</a:t>
            </a:r>
          </a:p>
          <a:p>
            <a:pPr lvl="1"/>
            <a:r>
              <a:rPr lang="da-DK" dirty="0"/>
              <a:t>show ip route &lt;LAN-D-PREFIX&gt;</a:t>
            </a:r>
          </a:p>
          <a:p>
            <a:pPr lvl="1"/>
            <a:r>
              <a:rPr lang="da-DK" dirty="0"/>
              <a:t>show ip </a:t>
            </a:r>
            <a:r>
              <a:rPr lang="da-DK" dirty="0" err="1"/>
              <a:t>cef</a:t>
            </a:r>
            <a:r>
              <a:rPr lang="da-DK" dirty="0"/>
              <a:t> &lt;PC-D-IP&gt;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Besvar:</a:t>
            </a:r>
          </a:p>
          <a:p>
            <a:pPr lvl="1"/>
            <a:r>
              <a:rPr lang="da-DK" dirty="0"/>
              <a:t>Hvor mange </a:t>
            </a:r>
            <a:r>
              <a:rPr lang="da-DK" dirty="0" err="1"/>
              <a:t>next</a:t>
            </a:r>
            <a:r>
              <a:rPr lang="da-DK" dirty="0"/>
              <a:t> hops findes? </a:t>
            </a:r>
          </a:p>
          <a:p>
            <a:pPr lvl="1"/>
            <a:r>
              <a:rPr lang="da-DK" dirty="0"/>
              <a:t>Kan begge være installeret? </a:t>
            </a:r>
          </a:p>
          <a:p>
            <a:pPr lvl="1"/>
            <a:r>
              <a:rPr lang="da-DK" dirty="0"/>
              <a:t>Hvordan repræsenterer FIB dette? </a:t>
            </a:r>
          </a:p>
          <a:p>
            <a:pPr lvl="1"/>
            <a:r>
              <a:rPr lang="da-DK" dirty="0"/>
              <a:t>Hvordan forventer I, at trafik fordeles? 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27490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BC8127-68F0-8BCA-168A-F091BDEAB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OPSAMLING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2D56809-5FEC-39D5-8229-C136A8F3A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a-DK" dirty="0"/>
              <a:t>For en given pakke skal I nu kunne forklare:</a:t>
            </a:r>
          </a:p>
          <a:p>
            <a:pPr marL="0" indent="0">
              <a:buNone/>
            </a:pPr>
            <a:endParaRPr lang="da-DK" dirty="0"/>
          </a:p>
          <a:p>
            <a:pPr marL="514350" lvl="0" indent="-514350">
              <a:buFont typeface="+mj-lt"/>
              <a:buAutoNum type="arabicPeriod"/>
            </a:pPr>
            <a:r>
              <a:rPr lang="da-DK" dirty="0"/>
              <a:t>Hvad er destinationen? 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/>
              <a:t>Hvilke routes matcher? 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/>
              <a:t>Hvilken route bliver relevant? 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/>
              <a:t>Hvad er </a:t>
            </a:r>
            <a:r>
              <a:rPr lang="da-DK" dirty="0" err="1"/>
              <a:t>next</a:t>
            </a:r>
            <a:r>
              <a:rPr lang="da-DK" dirty="0"/>
              <a:t> hop? 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/>
              <a:t>Hvordan </a:t>
            </a:r>
            <a:r>
              <a:rPr lang="da-DK" dirty="0" err="1"/>
              <a:t>resolves</a:t>
            </a:r>
            <a:r>
              <a:rPr lang="da-DK" dirty="0"/>
              <a:t> </a:t>
            </a:r>
            <a:r>
              <a:rPr lang="da-DK" dirty="0" err="1"/>
              <a:t>next</a:t>
            </a:r>
            <a:r>
              <a:rPr lang="da-DK" dirty="0"/>
              <a:t> hop? 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/>
              <a:t>Hvilket interface bruges? 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/>
              <a:t>Hvilken </a:t>
            </a:r>
            <a:r>
              <a:rPr lang="da-DK" dirty="0" err="1"/>
              <a:t>Layer</a:t>
            </a:r>
            <a:r>
              <a:rPr lang="da-DK" dirty="0"/>
              <a:t> 2-destination bruges? 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/>
              <a:t>Hvad skal være på plads for returtrafikken? </a:t>
            </a:r>
          </a:p>
          <a:p>
            <a:pPr marL="514350" indent="-514350">
              <a:buFont typeface="+mj-lt"/>
              <a:buAutoNum type="arabicPeriod"/>
            </a:pPr>
            <a:endParaRPr lang="da-DK" dirty="0"/>
          </a:p>
          <a:p>
            <a:pPr marL="0" indent="0">
              <a:buNone/>
            </a:pPr>
            <a:r>
              <a:rPr lang="da-DK" dirty="0"/>
              <a:t>Test først, når I har lavet jeres forudsigelse.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23983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2447</Words>
  <Application>Microsoft Macintosh PowerPoint</Application>
  <PresentationFormat>Widescreen</PresentationFormat>
  <Paragraphs>480</Paragraphs>
  <Slides>39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39</vt:i4>
      </vt:variant>
    </vt:vector>
  </HeadingPairs>
  <TitlesOfParts>
    <vt:vector size="43" baseType="lpstr">
      <vt:lpstr>Aptos</vt:lpstr>
      <vt:lpstr>Aptos Display</vt:lpstr>
      <vt:lpstr>Arial</vt:lpstr>
      <vt:lpstr>Office-tema</vt:lpstr>
      <vt:lpstr>Fra konfiguration til packet flow</vt:lpstr>
      <vt:lpstr>Intro</vt:lpstr>
      <vt:lpstr>Hvorfor gør vi det?</vt:lpstr>
      <vt:lpstr>Arbejdsmetoden</vt:lpstr>
      <vt:lpstr>Topologi</vt:lpstr>
      <vt:lpstr>Del 1: Hvad ved routerne allerede?</vt:lpstr>
      <vt:lpstr>Del 1: Første test</vt:lpstr>
      <vt:lpstr>Del 1: Hvor stoppede pakken?</vt:lpstr>
      <vt:lpstr>Del 2: Ny information</vt:lpstr>
      <vt:lpstr>Del 2: Følg pakken videre</vt:lpstr>
      <vt:lpstr>Del 3: Er vi færdige?</vt:lpstr>
      <vt:lpstr>Del 3: Få kommunikationen til at fungere</vt:lpstr>
      <vt:lpstr>Hvad har vi egentlig arbejdet med?</vt:lpstr>
      <vt:lpstr>RIB</vt:lpstr>
      <vt:lpstr>FIB</vt:lpstr>
      <vt:lpstr>RIB i vores øvelse</vt:lpstr>
      <vt:lpstr>FIB</vt:lpstr>
      <vt:lpstr>Sammenlign RIB og FIB</vt:lpstr>
      <vt:lpstr>ROUTE SELECTION OG FORWARDING  - Nu bliver det sjovt ! </vt:lpstr>
      <vt:lpstr>Flere routes kan matche</vt:lpstr>
      <vt:lpstr>Hvilken route bruges?</vt:lpstr>
      <vt:lpstr>Longest Prefix Match</vt:lpstr>
      <vt:lpstr>Introducér OSPF</vt:lpstr>
      <vt:lpstr>Samme prefix fra forskellige kilder</vt:lpstr>
      <vt:lpstr>Administrative Distance</vt:lpstr>
      <vt:lpstr>Longest Prefix Match eller AD?</vt:lpstr>
      <vt:lpstr>Floating Static Route</vt:lpstr>
      <vt:lpstr>Lav en fejl</vt:lpstr>
      <vt:lpstr>Hvad er et next hop?</vt:lpstr>
      <vt:lpstr>Next-hop resolution</vt:lpstr>
      <vt:lpstr>Recursive lookup</vt:lpstr>
      <vt:lpstr>Vi har stadig et problem</vt:lpstr>
      <vt:lpstr>ARP</vt:lpstr>
      <vt:lpstr>Følg hele pakken</vt:lpstr>
      <vt:lpstr>SOURCE IP OG ROUTER-GENERERET TRAFIK</vt:lpstr>
      <vt:lpstr>Extended Ping</vt:lpstr>
      <vt:lpstr>To lige gode veje</vt:lpstr>
      <vt:lpstr>ECMP</vt:lpstr>
      <vt:lpstr>OPSAMLING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Kure Jakobsen</dc:creator>
  <cp:lastModifiedBy>Johnny Kure Jakobsen</cp:lastModifiedBy>
  <cp:revision>70</cp:revision>
  <dcterms:created xsi:type="dcterms:W3CDTF">2026-09-15T21:46:27Z</dcterms:created>
  <dcterms:modified xsi:type="dcterms:W3CDTF">2026-09-16T05:41:41Z</dcterms:modified>
</cp:coreProperties>
</file>